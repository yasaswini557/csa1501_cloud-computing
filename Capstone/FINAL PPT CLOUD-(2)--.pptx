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" name="Shape 6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371600" y="3188970"/>
            <a:ext cx="15544800" cy="216027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2743200" y="5760720"/>
            <a:ext cx="12801600" cy="257175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914400" y="2366010"/>
            <a:ext cx="7955282" cy="678942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21671" y="2106989"/>
            <a:ext cx="15772416" cy="1554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289299" y="3154040"/>
            <a:ext cx="15709902" cy="5875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7106630" y="9566909"/>
            <a:ext cx="266974" cy="279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4AAC"/>
          </a:solidFill>
          <a:uFillTx/>
          <a:latin typeface="Arial Black"/>
          <a:ea typeface="Arial Black"/>
          <a:cs typeface="Arial Black"/>
          <a:sym typeface="Arial Black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4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object 2"/>
          <p:cNvSpPr txBox="1"/>
          <p:nvPr>
            <p:ph type="title"/>
          </p:nvPr>
        </p:nvSpPr>
        <p:spPr>
          <a:xfrm>
            <a:off x="980550" y="2321587"/>
            <a:ext cx="15513537" cy="1340087"/>
          </a:xfrm>
          <a:prstGeom prst="rect">
            <a:avLst/>
          </a:prstGeom>
        </p:spPr>
        <p:txBody>
          <a:bodyPr/>
          <a:lstStyle/>
          <a:p>
            <a:pPr marR="5080" indent="1083944" algn="ctr">
              <a:lnSpc>
                <a:spcPct val="115900"/>
              </a:lnSpc>
              <a:defRPr b="1" sz="4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Cloud-</a:t>
            </a:r>
            <a:r>
              <a:rPr spc="-99"/>
              <a:t>Based</a:t>
            </a:r>
            <a:r>
              <a:rPr spc="-300"/>
              <a:t> </a:t>
            </a:r>
            <a:r>
              <a:rPr spc="-199"/>
              <a:t>Digital</a:t>
            </a:r>
            <a:r>
              <a:rPr spc="-300"/>
              <a:t> </a:t>
            </a:r>
            <a:r>
              <a:rPr spc="-199"/>
              <a:t>Twin</a:t>
            </a:r>
            <a:r>
              <a:rPr spc="-300"/>
              <a:t> </a:t>
            </a:r>
            <a:r>
              <a:rPr spc="-99"/>
              <a:t>System</a:t>
            </a:r>
            <a:r>
              <a:rPr spc="-300"/>
              <a:t> </a:t>
            </a:r>
            <a:r>
              <a:rPr spc="-99"/>
              <a:t>for</a:t>
            </a:r>
            <a:r>
              <a:rPr spc="-300"/>
              <a:t> </a:t>
            </a:r>
            <a:r>
              <a:rPr spc="-199"/>
              <a:t>Smart</a:t>
            </a:r>
            <a:r>
              <a:rPr spc="-300"/>
              <a:t> </a:t>
            </a:r>
            <a:r>
              <a:rPr spc="-99"/>
              <a:t>Manufacturing </a:t>
            </a:r>
            <a:r>
              <a:t>Process</a:t>
            </a:r>
            <a:r>
              <a:rPr spc="-300"/>
              <a:t> </a:t>
            </a:r>
            <a:r>
              <a:rPr spc="-99"/>
              <a:t>Monitoring</a:t>
            </a:r>
            <a:r>
              <a:rPr spc="-300"/>
              <a:t> </a:t>
            </a:r>
            <a:r>
              <a:rPr spc="-99"/>
              <a:t>and</a:t>
            </a:r>
            <a:r>
              <a:rPr spc="-300"/>
              <a:t> </a:t>
            </a:r>
            <a:r>
              <a:rPr spc="-99"/>
              <a:t>Predictive</a:t>
            </a:r>
            <a:r>
              <a:rPr spc="-300"/>
              <a:t> </a:t>
            </a:r>
            <a:r>
              <a:rPr spc="-99"/>
              <a:t>Analytics</a:t>
            </a:r>
          </a:p>
        </p:txBody>
      </p:sp>
      <p:sp>
        <p:nvSpPr>
          <p:cNvPr id="65" name="object 3"/>
          <p:cNvSpPr txBox="1"/>
          <p:nvPr/>
        </p:nvSpPr>
        <p:spPr>
          <a:xfrm>
            <a:off x="10254553" y="5657180"/>
            <a:ext cx="7135664" cy="3992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 algn="ctr">
              <a:spcBef>
                <a:spcPts val="100"/>
              </a:spcBef>
              <a:defRPr spc="-245" sz="3500">
                <a:latin typeface="Arial Black"/>
                <a:ea typeface="Arial Black"/>
                <a:cs typeface="Arial Black"/>
                <a:sym typeface="Arial Black"/>
              </a:defRPr>
            </a:pPr>
            <a:r>
              <a:t>Presented</a:t>
            </a:r>
            <a:r>
              <a:rPr spc="-275"/>
              <a:t> </a:t>
            </a:r>
            <a:r>
              <a:rPr spc="-25"/>
              <a:t>by:</a:t>
            </a:r>
            <a:endParaRPr spc="-25"/>
          </a:p>
          <a:p>
            <a:pPr indent="12700" algn="ctr">
              <a:spcBef>
                <a:spcPts val="100"/>
              </a:spcBef>
              <a:defRPr spc="-245" sz="3500"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 marR="5080" indent="749934" algn="ctr">
              <a:lnSpc>
                <a:spcPct val="158700"/>
              </a:lnSpc>
              <a:spcBef>
                <a:spcPts val="200"/>
              </a:spcBef>
              <a:defRPr spc="-215" sz="3000">
                <a:latin typeface="Verdana"/>
                <a:ea typeface="Verdana"/>
                <a:cs typeface="Verdana"/>
                <a:sym typeface="Verdana"/>
              </a:defRPr>
            </a:pPr>
            <a:r>
              <a:t>N.R.YASASWINI</a:t>
            </a:r>
            <a:r>
              <a:rPr spc="-200"/>
              <a:t> </a:t>
            </a:r>
            <a:r>
              <a:rPr spc="-270"/>
              <a:t>(192425119)</a:t>
            </a:r>
            <a:endParaRPr spc="-245" sz="3500">
              <a:latin typeface="Arial Black"/>
              <a:ea typeface="Arial Black"/>
              <a:cs typeface="Arial Black"/>
              <a:sym typeface="Arial Black"/>
            </a:endParaRPr>
          </a:p>
          <a:p>
            <a:pPr marR="5080" indent="749934" algn="ctr">
              <a:lnSpc>
                <a:spcPct val="158700"/>
              </a:lnSpc>
              <a:spcBef>
                <a:spcPts val="200"/>
              </a:spcBef>
              <a:defRPr spc="-215" sz="3000">
                <a:latin typeface="Verdana"/>
                <a:ea typeface="Verdana"/>
                <a:cs typeface="Verdana"/>
                <a:sym typeface="Verdana"/>
              </a:defRPr>
            </a:pPr>
            <a:r>
              <a:t>FLORINA</a:t>
            </a:r>
            <a:r>
              <a:rPr spc="-320"/>
              <a:t> </a:t>
            </a:r>
            <a:r>
              <a:rPr spc="0"/>
              <a:t>K</a:t>
            </a:r>
            <a:r>
              <a:rPr spc="280"/>
              <a:t> </a:t>
            </a:r>
            <a:r>
              <a:rPr spc="-275"/>
              <a:t>(192521479)</a:t>
            </a:r>
            <a:endParaRPr spc="-95"/>
          </a:p>
          <a:p>
            <a:pPr marR="5080" indent="749934" algn="ctr">
              <a:lnSpc>
                <a:spcPct val="158700"/>
              </a:lnSpc>
              <a:spcBef>
                <a:spcPts val="200"/>
              </a:spcBef>
              <a:defRPr spc="-215" sz="3000">
                <a:latin typeface="Verdana"/>
                <a:ea typeface="Verdana"/>
                <a:cs typeface="Verdana"/>
                <a:sym typeface="Verdana"/>
              </a:defRPr>
            </a:pPr>
            <a:r>
              <a:rPr spc="-135"/>
              <a:t>VIJIYA</a:t>
            </a:r>
            <a:r>
              <a:rPr spc="-290"/>
              <a:t> </a:t>
            </a:r>
            <a:r>
              <a:rPr spc="-125"/>
              <a:t>PRIYA</a:t>
            </a:r>
            <a:r>
              <a:rPr spc="-285"/>
              <a:t> </a:t>
            </a:r>
            <a:r>
              <a:rPr spc="-190"/>
              <a:t>S.A</a:t>
            </a:r>
            <a:r>
              <a:rPr spc="-285"/>
              <a:t> </a:t>
            </a:r>
            <a:r>
              <a:rPr spc="-295"/>
              <a:t>(192524417)         </a:t>
            </a:r>
            <a:r>
              <a:rPr spc="-65"/>
              <a:t>             MALLIKA</a:t>
            </a:r>
            <a:r>
              <a:rPr spc="-290"/>
              <a:t> </a:t>
            </a:r>
            <a:r>
              <a:rPr spc="-30"/>
              <a:t>B</a:t>
            </a:r>
            <a:r>
              <a:rPr spc="-285"/>
              <a:t> </a:t>
            </a:r>
            <a:r>
              <a:rPr spc="-155"/>
              <a:t>(192324234)</a:t>
            </a:r>
          </a:p>
        </p:txBody>
      </p:sp>
      <p:sp>
        <p:nvSpPr>
          <p:cNvPr id="66" name="object 4"/>
          <p:cNvSpPr txBox="1"/>
          <p:nvPr/>
        </p:nvSpPr>
        <p:spPr>
          <a:xfrm>
            <a:off x="1031121" y="5088546"/>
            <a:ext cx="3620774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pc="-200" sz="3500">
                <a:latin typeface="Arial Black"/>
                <a:ea typeface="Arial Black"/>
                <a:cs typeface="Arial Black"/>
                <a:sym typeface="Arial Black"/>
              </a:defRPr>
            </a:pPr>
            <a:r>
              <a:t>Guided</a:t>
            </a:r>
            <a:r>
              <a:rPr spc="-300"/>
              <a:t> </a:t>
            </a:r>
            <a:r>
              <a:rPr spc="-25"/>
              <a:t>By</a:t>
            </a:r>
          </a:p>
          <a:p>
            <a:pPr indent="735330" algn="ctr">
              <a:spcBef>
                <a:spcPts val="4200"/>
              </a:spcBef>
              <a:defRPr spc="-45" sz="3000">
                <a:latin typeface="Verdana"/>
                <a:ea typeface="Verdana"/>
                <a:cs typeface="Verdana"/>
                <a:sym typeface="Verdana"/>
              </a:defRPr>
            </a:pPr>
            <a:r>
              <a:t>Dr</a:t>
            </a:r>
            <a:r>
              <a:rPr spc="-315"/>
              <a:t> </a:t>
            </a:r>
            <a:r>
              <a:rPr spc="175"/>
              <a:t>M</a:t>
            </a:r>
            <a:r>
              <a:rPr spc="-310"/>
              <a:t> </a:t>
            </a:r>
            <a:r>
              <a:rPr spc="-55"/>
              <a:t>D</a:t>
            </a:r>
            <a:r>
              <a:rPr spc="-310"/>
              <a:t> </a:t>
            </a:r>
            <a:r>
              <a:rPr spc="-50"/>
              <a:t>Boomija</a:t>
            </a:r>
          </a:p>
        </p:txBody>
      </p:sp>
      <p:pic>
        <p:nvPicPr>
          <p:cNvPr id="67" name="object 5" descr="object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006" y="148405"/>
            <a:ext cx="1597892" cy="203835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object 6" descr="object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23291" y="176980"/>
            <a:ext cx="1943102" cy="1981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object 3"/>
          <p:cNvSpPr txBox="1"/>
          <p:nvPr/>
        </p:nvSpPr>
        <p:spPr>
          <a:xfrm>
            <a:off x="1466850" y="2551352"/>
            <a:ext cx="15354302" cy="5926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00789" marR="5080" indent="-300789" algn="just">
              <a:lnSpc>
                <a:spcPct val="150000"/>
              </a:lnSpc>
              <a:buSzPct val="100000"/>
              <a:buChar char="•"/>
              <a:tabLst>
                <a:tab pos="1562100" algn="l"/>
                <a:tab pos="3289300" algn="l"/>
                <a:tab pos="4114800" algn="l"/>
                <a:tab pos="4826000" algn="l"/>
                <a:tab pos="6502400" algn="l"/>
                <a:tab pos="7658100" algn="l"/>
                <a:tab pos="9829800" algn="l"/>
                <a:tab pos="10680700" algn="l"/>
                <a:tab pos="11633200" algn="l"/>
                <a:tab pos="13385800" algn="l"/>
                <a:tab pos="13919200" algn="l"/>
              </a:tabLst>
              <a:defRPr spc="130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Modern </a:t>
            </a:r>
            <a:r>
              <a:rPr spc="85"/>
              <a:t>factories</a:t>
            </a:r>
            <a:r>
              <a:rPr spc="0"/>
              <a:t>	</a:t>
            </a:r>
            <a:r>
              <a:rPr spc="110"/>
              <a:t>use</a:t>
            </a:r>
            <a:r>
              <a:rPr spc="0"/>
              <a:t>	</a:t>
            </a:r>
            <a:r>
              <a:rPr spc="-25"/>
              <a:t>IoT</a:t>
            </a:r>
            <a:r>
              <a:rPr spc="0"/>
              <a:t>	</a:t>
            </a:r>
            <a:r>
              <a:rPr spc="95"/>
              <a:t>sensors,</a:t>
            </a:r>
            <a:r>
              <a:rPr spc="0"/>
              <a:t>	</a:t>
            </a:r>
            <a:r>
              <a:rPr spc="114"/>
              <a:t>cloud</a:t>
            </a:r>
            <a:r>
              <a:rPr spc="0"/>
              <a:t>	</a:t>
            </a:r>
            <a:r>
              <a:rPr spc="60"/>
              <a:t>computing,</a:t>
            </a:r>
            <a:r>
              <a:rPr spc="0"/>
              <a:t>	</a:t>
            </a:r>
            <a:r>
              <a:rPr spc="55"/>
              <a:t>and</a:t>
            </a:r>
            <a:r>
              <a:rPr spc="0"/>
              <a:t>	</a:t>
            </a:r>
            <a:r>
              <a:rPr spc="45"/>
              <a:t>data</a:t>
            </a:r>
            <a:r>
              <a:rPr spc="0"/>
              <a:t>	</a:t>
            </a:r>
            <a:r>
              <a:rPr spc="90"/>
              <a:t>analytics</a:t>
            </a:r>
            <a:r>
              <a:rPr spc="0"/>
              <a:t>	</a:t>
            </a:r>
            <a:r>
              <a:rPr spc="-25"/>
              <a:t>to</a:t>
            </a:r>
            <a:r>
              <a:rPr spc="0"/>
              <a:t>	</a:t>
            </a:r>
            <a:r>
              <a:rPr spc="60"/>
              <a:t>improve production.</a:t>
            </a:r>
          </a:p>
          <a:p>
            <a:pPr marL="300789" marR="1125855" indent="-300789" algn="just">
              <a:lnSpc>
                <a:spcPct val="150000"/>
              </a:lnSpc>
              <a:spcBef>
                <a:spcPts val="300"/>
              </a:spcBef>
              <a:buSzPct val="100000"/>
              <a:buChar char="•"/>
              <a:defRPr spc="229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</a:t>
            </a:r>
            <a:r>
              <a:rPr spc="-50"/>
              <a:t> </a:t>
            </a:r>
            <a:r>
              <a:rPr spc="0"/>
              <a:t>Digital</a:t>
            </a:r>
            <a:r>
              <a:rPr spc="-45"/>
              <a:t> </a:t>
            </a:r>
            <a:r>
              <a:rPr spc="0"/>
              <a:t>Twin</a:t>
            </a:r>
            <a:r>
              <a:rPr spc="-45"/>
              <a:t> </a:t>
            </a:r>
            <a:r>
              <a:rPr spc="110"/>
              <a:t>is</a:t>
            </a:r>
            <a:r>
              <a:rPr spc="-45"/>
              <a:t> </a:t>
            </a:r>
            <a:r>
              <a:rPr spc="75"/>
              <a:t>a</a:t>
            </a:r>
            <a:r>
              <a:rPr spc="-45"/>
              <a:t> </a:t>
            </a:r>
            <a:r>
              <a:rPr spc="0"/>
              <a:t>virtual</a:t>
            </a:r>
            <a:r>
              <a:rPr spc="-45"/>
              <a:t> </a:t>
            </a:r>
            <a:r>
              <a:rPr spc="95"/>
              <a:t>model</a:t>
            </a:r>
            <a:r>
              <a:rPr spc="-45"/>
              <a:t> </a:t>
            </a:r>
            <a:r>
              <a:rPr spc="125"/>
              <a:t>of</a:t>
            </a:r>
            <a:r>
              <a:rPr spc="-45"/>
              <a:t> </a:t>
            </a:r>
            <a:r>
              <a:rPr spc="75"/>
              <a:t>a</a:t>
            </a:r>
            <a:r>
              <a:rPr spc="-45"/>
              <a:t> </a:t>
            </a:r>
            <a:r>
              <a:rPr spc="110"/>
              <a:t>physical</a:t>
            </a:r>
            <a:r>
              <a:rPr spc="-45"/>
              <a:t> </a:t>
            </a:r>
            <a:r>
              <a:rPr spc="95"/>
              <a:t>machine</a:t>
            </a:r>
            <a:r>
              <a:rPr spc="-45"/>
              <a:t> </a:t>
            </a:r>
            <a:r>
              <a:rPr spc="65"/>
              <a:t>or</a:t>
            </a:r>
            <a:r>
              <a:rPr spc="-45"/>
              <a:t> </a:t>
            </a:r>
            <a:r>
              <a:rPr spc="70"/>
              <a:t>manufacturing</a:t>
            </a:r>
            <a:r>
              <a:rPr spc="-45"/>
              <a:t> </a:t>
            </a:r>
            <a:r>
              <a:rPr spc="110"/>
              <a:t>process. </a:t>
            </a:r>
            <a:r>
              <a:rPr spc="-175"/>
              <a:t>It</a:t>
            </a:r>
            <a:r>
              <a:rPr spc="-85"/>
              <a:t> </a:t>
            </a:r>
            <a:r>
              <a:rPr spc="120"/>
              <a:t>receives</a:t>
            </a:r>
            <a:r>
              <a:rPr spc="-85"/>
              <a:t> </a:t>
            </a:r>
            <a:r>
              <a:rPr spc="65"/>
              <a:t>real-</a:t>
            </a:r>
            <a:r>
              <a:rPr spc="85"/>
              <a:t>time</a:t>
            </a:r>
            <a:r>
              <a:rPr spc="-80"/>
              <a:t> </a:t>
            </a:r>
            <a:r>
              <a:rPr spc="65"/>
              <a:t>data</a:t>
            </a:r>
            <a:r>
              <a:rPr spc="-85"/>
              <a:t> </a:t>
            </a:r>
            <a:r>
              <a:rPr spc="65"/>
              <a:t>from</a:t>
            </a:r>
            <a:r>
              <a:rPr spc="-80"/>
              <a:t> </a:t>
            </a:r>
            <a:r>
              <a:rPr spc="104"/>
              <a:t>machines</a:t>
            </a:r>
            <a:r>
              <a:rPr spc="-85"/>
              <a:t> </a:t>
            </a:r>
            <a:r>
              <a:rPr spc="80"/>
              <a:t>and</a:t>
            </a:r>
            <a:r>
              <a:rPr spc="-85"/>
              <a:t> </a:t>
            </a:r>
            <a:r>
              <a:rPr spc="95"/>
              <a:t>reflects</a:t>
            </a:r>
            <a:r>
              <a:rPr spc="-80"/>
              <a:t> </a:t>
            </a:r>
            <a:r>
              <a:rPr spc="0"/>
              <a:t>their</a:t>
            </a:r>
            <a:r>
              <a:rPr spc="-85"/>
              <a:t> </a:t>
            </a:r>
            <a:r>
              <a:rPr spc="75"/>
              <a:t>current</a:t>
            </a:r>
            <a:r>
              <a:rPr spc="-80"/>
              <a:t> </a:t>
            </a:r>
            <a:r>
              <a:rPr spc="55"/>
              <a:t>condition.</a:t>
            </a:r>
          </a:p>
          <a:p>
            <a:pPr marL="300789" indent="-300789" algn="just">
              <a:lnSpc>
                <a:spcPct val="150000"/>
              </a:lnSpc>
              <a:spcBef>
                <a:spcPts val="700"/>
              </a:spcBef>
              <a:buSzPct val="100000"/>
              <a:buChar char="•"/>
              <a:defRPr spc="145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Cloud</a:t>
            </a:r>
            <a:r>
              <a:rPr spc="-104"/>
              <a:t> </a:t>
            </a:r>
            <a:r>
              <a:rPr spc="90"/>
              <a:t>computing</a:t>
            </a:r>
            <a:r>
              <a:rPr spc="-100"/>
              <a:t> </a:t>
            </a:r>
            <a:r>
              <a:rPr spc="95"/>
              <a:t>provides</a:t>
            </a:r>
            <a:r>
              <a:rPr spc="-100"/>
              <a:t> </a:t>
            </a:r>
            <a:r>
              <a:rPr spc="120"/>
              <a:t>scalable</a:t>
            </a:r>
            <a:r>
              <a:rPr spc="-104"/>
              <a:t> </a:t>
            </a:r>
            <a:r>
              <a:rPr spc="85"/>
              <a:t>storage</a:t>
            </a:r>
            <a:r>
              <a:rPr spc="-100"/>
              <a:t> </a:t>
            </a:r>
            <a:r>
              <a:rPr spc="80"/>
              <a:t>and</a:t>
            </a:r>
            <a:r>
              <a:rPr spc="-100"/>
              <a:t> </a:t>
            </a:r>
            <a:r>
              <a:rPr spc="55"/>
              <a:t>remote</a:t>
            </a:r>
            <a:r>
              <a:rPr spc="-104"/>
              <a:t> </a:t>
            </a:r>
            <a:r>
              <a:rPr spc="55"/>
              <a:t>monitoring</a:t>
            </a:r>
            <a:r>
              <a:rPr spc="-100"/>
              <a:t> </a:t>
            </a:r>
            <a:r>
              <a:rPr spc="65"/>
              <a:t>capabilities.</a:t>
            </a:r>
          </a:p>
          <a:p>
            <a:pPr marL="300789" marR="5080" indent="-300789" algn="just">
              <a:lnSpc>
                <a:spcPct val="150000"/>
              </a:lnSpc>
              <a:spcBef>
                <a:spcPts val="300"/>
              </a:spcBef>
              <a:buSzPct val="100000"/>
              <a:buChar char="•"/>
              <a:defRPr spc="104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Big</a:t>
            </a:r>
            <a:r>
              <a:rPr spc="-60"/>
              <a:t> </a:t>
            </a:r>
            <a:r>
              <a:rPr spc="55"/>
              <a:t>Data</a:t>
            </a:r>
            <a:r>
              <a:rPr spc="-60"/>
              <a:t> </a:t>
            </a:r>
            <a:r>
              <a:rPr spc="120"/>
              <a:t>Analytics</a:t>
            </a:r>
            <a:r>
              <a:rPr spc="-60"/>
              <a:t> </a:t>
            </a:r>
            <a:r>
              <a:rPr spc="155"/>
              <a:t>processes</a:t>
            </a:r>
            <a:r>
              <a:rPr spc="-55"/>
              <a:t> </a:t>
            </a:r>
            <a:r>
              <a:rPr spc="60"/>
              <a:t>large</a:t>
            </a:r>
            <a:r>
              <a:rPr spc="-60"/>
              <a:t> </a:t>
            </a:r>
            <a:r>
              <a:rPr spc="90"/>
              <a:t>volumes</a:t>
            </a:r>
            <a:r>
              <a:rPr spc="-60"/>
              <a:t> </a:t>
            </a:r>
            <a:r>
              <a:rPr spc="125"/>
              <a:t>of</a:t>
            </a:r>
            <a:r>
              <a:rPr spc="-60"/>
              <a:t> </a:t>
            </a:r>
            <a:r>
              <a:rPr spc="70"/>
              <a:t>manufacturing</a:t>
            </a:r>
            <a:r>
              <a:rPr spc="-55"/>
              <a:t> </a:t>
            </a:r>
            <a:r>
              <a:rPr spc="65"/>
              <a:t>data</a:t>
            </a:r>
            <a:r>
              <a:rPr spc="-60"/>
              <a:t> </a:t>
            </a:r>
            <a:r>
              <a:rPr spc="0"/>
              <a:t>to</a:t>
            </a:r>
            <a:r>
              <a:rPr spc="-60"/>
              <a:t> </a:t>
            </a:r>
            <a:r>
              <a:rPr spc="70"/>
              <a:t>identify</a:t>
            </a:r>
            <a:r>
              <a:rPr spc="-55"/>
              <a:t> </a:t>
            </a:r>
            <a:r>
              <a:rPr spc="40"/>
              <a:t>patterns, </a:t>
            </a:r>
            <a:r>
              <a:rPr spc="70"/>
              <a:t>improve</a:t>
            </a:r>
            <a:r>
              <a:rPr spc="-100"/>
              <a:t> </a:t>
            </a:r>
            <a:r>
              <a:rPr spc="80"/>
              <a:t>efficiency,</a:t>
            </a:r>
            <a:r>
              <a:rPr spc="-95"/>
              <a:t> </a:t>
            </a:r>
            <a:r>
              <a:rPr spc="80"/>
              <a:t>and</a:t>
            </a:r>
            <a:r>
              <a:rPr spc="-100"/>
              <a:t> </a:t>
            </a:r>
            <a:r>
              <a:t>support</a:t>
            </a:r>
            <a:r>
              <a:rPr spc="-95"/>
              <a:t> </a:t>
            </a:r>
            <a:r>
              <a:rPr spc="80"/>
              <a:t>predictive</a:t>
            </a:r>
            <a:r>
              <a:rPr spc="-95"/>
              <a:t> </a:t>
            </a:r>
            <a:r>
              <a:rPr spc="50"/>
              <a:t>maintenance.</a:t>
            </a:r>
          </a:p>
          <a:p>
            <a:pPr marL="300789" indent="-300789" algn="just">
              <a:lnSpc>
                <a:spcPct val="150000"/>
              </a:lnSpc>
              <a:spcBef>
                <a:spcPts val="700"/>
              </a:spcBef>
              <a:buSzPct val="100000"/>
              <a:buChar char="•"/>
              <a:defRPr spc="114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</a:t>
            </a:r>
            <a:r>
              <a:rPr spc="40"/>
              <a:t> </a:t>
            </a:r>
            <a:r>
              <a:t>proposed</a:t>
            </a:r>
            <a:r>
              <a:rPr spc="45"/>
              <a:t> </a:t>
            </a:r>
            <a:r>
              <a:rPr spc="110"/>
              <a:t>system</a:t>
            </a:r>
            <a:r>
              <a:rPr spc="40"/>
              <a:t> </a:t>
            </a:r>
            <a:r>
              <a:rPr spc="120"/>
              <a:t>combines</a:t>
            </a:r>
            <a:r>
              <a:rPr spc="45"/>
              <a:t> </a:t>
            </a:r>
            <a:r>
              <a:rPr spc="0"/>
              <a:t>Digital</a:t>
            </a:r>
            <a:r>
              <a:rPr spc="45"/>
              <a:t> </a:t>
            </a:r>
            <a:r>
              <a:rPr spc="0"/>
              <a:t>Twin,</a:t>
            </a:r>
            <a:r>
              <a:rPr spc="40"/>
              <a:t> </a:t>
            </a:r>
            <a:r>
              <a:rPr spc="95"/>
              <a:t>Cloud,</a:t>
            </a:r>
            <a:r>
              <a:rPr spc="45"/>
              <a:t> </a:t>
            </a:r>
            <a:r>
              <a:rPr spc="80"/>
              <a:t>and</a:t>
            </a:r>
            <a:r>
              <a:rPr spc="40"/>
              <a:t> </a:t>
            </a:r>
            <a:r>
              <a:rPr spc="104"/>
              <a:t>Big</a:t>
            </a:r>
            <a:r>
              <a:rPr spc="45"/>
              <a:t> </a:t>
            </a:r>
            <a:r>
              <a:rPr spc="55"/>
              <a:t>Data</a:t>
            </a:r>
            <a:r>
              <a:rPr spc="45"/>
              <a:t> </a:t>
            </a:r>
            <a:r>
              <a:rPr spc="120"/>
              <a:t>Analytics</a:t>
            </a:r>
            <a:r>
              <a:rPr spc="40"/>
              <a:t> </a:t>
            </a:r>
            <a:r>
              <a:rPr spc="0"/>
              <a:t>to</a:t>
            </a:r>
            <a:r>
              <a:rPr spc="45"/>
              <a:t> </a:t>
            </a:r>
            <a:r>
              <a:rPr spc="-10"/>
              <a:t>monitor</a:t>
            </a:r>
          </a:p>
          <a:p>
            <a:pPr marL="300789" indent="-300789" algn="just">
              <a:lnSpc>
                <a:spcPct val="150000"/>
              </a:lnSpc>
              <a:spcBef>
                <a:spcPts val="1100"/>
              </a:spcBef>
              <a:buSzPct val="100000"/>
              <a:buChar char="•"/>
              <a:defRPr spc="70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manufacturing</a:t>
            </a:r>
            <a:r>
              <a:rPr spc="-95"/>
              <a:t> </a:t>
            </a:r>
            <a:r>
              <a:rPr spc="155"/>
              <a:t>processes</a:t>
            </a:r>
            <a:r>
              <a:rPr spc="-90"/>
              <a:t> </a:t>
            </a:r>
            <a:r>
              <a:rPr spc="80"/>
              <a:t>and</a:t>
            </a:r>
            <a:r>
              <a:rPr spc="-95"/>
              <a:t> </a:t>
            </a:r>
            <a:r>
              <a:rPr spc="80"/>
              <a:t>optimize</a:t>
            </a:r>
            <a:r>
              <a:rPr spc="-90"/>
              <a:t> </a:t>
            </a:r>
            <a:r>
              <a:rPr spc="85"/>
              <a:t>production</a:t>
            </a:r>
            <a:r>
              <a:rPr spc="-95"/>
              <a:t> </a:t>
            </a:r>
            <a:r>
              <a:rPr spc="104"/>
              <a:t>performance</a:t>
            </a:r>
            <a:r>
              <a:rPr spc="-90"/>
              <a:t> </a:t>
            </a:r>
            <a:r>
              <a:rPr spc="0"/>
              <a:t>in</a:t>
            </a:r>
            <a:r>
              <a:rPr spc="-95"/>
              <a:t> </a:t>
            </a:r>
            <a:r>
              <a:rPr spc="50"/>
              <a:t>real</a:t>
            </a:r>
            <a:r>
              <a:rPr spc="-90"/>
              <a:t> </a:t>
            </a:r>
            <a:r>
              <a:rPr spc="-10"/>
              <a:t>time.</a:t>
            </a:r>
          </a:p>
        </p:txBody>
      </p:sp>
      <p:pic>
        <p:nvPicPr>
          <p:cNvPr id="71" name="object 9" descr="object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523291" y="176980"/>
            <a:ext cx="1943102" cy="1981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object 10" descr="object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4408" y="176980"/>
            <a:ext cx="1560947" cy="1981201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object 11"/>
          <p:cNvSpPr txBox="1"/>
          <p:nvPr>
            <p:ph type="title"/>
          </p:nvPr>
        </p:nvSpPr>
        <p:spPr>
          <a:xfrm>
            <a:off x="3170753" y="584516"/>
            <a:ext cx="17982464" cy="1554686"/>
          </a:xfrm>
          <a:prstGeom prst="rect">
            <a:avLst/>
          </a:prstGeom>
        </p:spPr>
        <p:txBody>
          <a:bodyPr/>
          <a:lstStyle/>
          <a:p>
            <a:pPr indent="771525">
              <a:spcBef>
                <a:spcPts val="100"/>
              </a:spcBef>
              <a:defRPr spc="-500" sz="4700">
                <a:latin typeface="Arial Rounded MT Bold"/>
                <a:ea typeface="Arial Rounded MT Bold"/>
                <a:cs typeface="Arial Rounded MT Bold"/>
                <a:sym typeface="Arial Rounded MT Bold"/>
              </a:defRPr>
            </a:pPr>
            <a:r>
              <a:t>                                   </a:t>
            </a:r>
            <a:r>
              <a:rPr b="1" sz="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object 2"/>
          <p:cNvGraphicFramePr/>
          <p:nvPr/>
        </p:nvGraphicFramePr>
        <p:xfrm>
          <a:off x="1933629" y="2145171"/>
          <a:ext cx="15623540" cy="587501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905884"/>
                <a:gridCol w="3905884"/>
                <a:gridCol w="3905884"/>
                <a:gridCol w="3905884"/>
              </a:tblGrid>
              <a:tr h="979169">
                <a:tc>
                  <a:txBody>
                    <a:bodyPr/>
                    <a:lstStyle/>
                    <a:p>
                      <a:pPr indent="75562" algn="l">
                        <a:spcBef>
                          <a:spcPts val="2100"/>
                        </a:spcBef>
                        <a:defRPr spc="-125" sz="2700">
                          <a:latin typeface="Arial Black"/>
                          <a:ea typeface="Arial Black"/>
                          <a:cs typeface="Arial Black"/>
                          <a:sym typeface="Arial Black"/>
                        </a:defRPr>
                      </a:pPr>
                      <a:r>
                        <a:t>Author</a:t>
                      </a:r>
                      <a:r>
                        <a:rPr spc="-240"/>
                        <a:t> </a:t>
                      </a:r>
                      <a:r>
                        <a:rPr spc="-600"/>
                        <a:t>&amp;</a:t>
                      </a:r>
                      <a:r>
                        <a:rPr spc="-233"/>
                        <a:t> </a:t>
                      </a:r>
                      <a:r>
                        <a:rPr spc="-20"/>
                        <a:t>Year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100"/>
                        </a:spcBef>
                      </a:pPr>
                      <a:r>
                        <a:rPr spc="-35" sz="27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Focus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76200" algn="l">
                        <a:spcBef>
                          <a:spcPts val="2100"/>
                        </a:spcBef>
                        <a:defRPr spc="-270" sz="2700">
                          <a:latin typeface="Arial Black"/>
                          <a:ea typeface="Arial Black"/>
                          <a:cs typeface="Arial Black"/>
                          <a:sym typeface="Arial Black"/>
                        </a:defRPr>
                      </a:pPr>
                      <a:r>
                        <a:t>Key</a:t>
                      </a:r>
                      <a:r>
                        <a:rPr spc="-254"/>
                        <a:t> </a:t>
                      </a:r>
                      <a:r>
                        <a:rPr spc="-10"/>
                        <a:t>Finding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100"/>
                        </a:spcBef>
                      </a:pPr>
                      <a:r>
                        <a:rPr spc="-25" sz="27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Gap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</a:tr>
              <a:tr h="979169">
                <a:tc>
                  <a:txBody>
                    <a:bodyPr/>
                    <a:lstStyle/>
                    <a:p>
                      <a:pPr indent="75562" algn="l">
                        <a:spcBef>
                          <a:spcPts val="2300"/>
                        </a:spcBef>
                        <a:defRPr spc="-45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Lee</a:t>
                      </a:r>
                      <a:r>
                        <a:rPr spc="-254"/>
                        <a:t> </a:t>
                      </a:r>
                      <a:r>
                        <a:rPr spc="-25"/>
                        <a:t>et</a:t>
                      </a:r>
                      <a:r>
                        <a:rPr spc="-250"/>
                        <a:t> </a:t>
                      </a:r>
                      <a:r>
                        <a:rPr spc="-120"/>
                        <a:t>al.</a:t>
                      </a:r>
                      <a:r>
                        <a:rPr spc="-250"/>
                        <a:t> </a:t>
                      </a:r>
                      <a:r>
                        <a:rPr spc="-20"/>
                        <a:t>(2024)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75562" algn="l">
                        <a:spcBef>
                          <a:spcPts val="2300"/>
                        </a:spcBef>
                        <a:defRPr spc="-40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CPS</a:t>
                      </a:r>
                      <a:r>
                        <a:rPr spc="-240"/>
                        <a:t> </a:t>
                      </a:r>
                      <a:r>
                        <a:rPr spc="-170"/>
                        <a:t>&amp;</a:t>
                      </a:r>
                      <a:r>
                        <a:rPr spc="-240"/>
                        <a:t> </a:t>
                      </a:r>
                      <a:r>
                        <a:rPr spc="-75"/>
                        <a:t>Industry</a:t>
                      </a:r>
                      <a:r>
                        <a:rPr spc="-240"/>
                        <a:t> </a:t>
                      </a:r>
                      <a:r>
                        <a:rPr spc="-25"/>
                        <a:t>4.0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689609" indent="76200" algn="l">
                        <a:lnSpc>
                          <a:spcPct val="117499"/>
                        </a:lnSpc>
                        <a:spcBef>
                          <a:spcPts val="200"/>
                        </a:spcBef>
                        <a:defRPr spc="-40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Supports</a:t>
                      </a:r>
                      <a:r>
                        <a:rPr spc="-215"/>
                        <a:t> </a:t>
                      </a:r>
                      <a:r>
                        <a:rPr spc="-10"/>
                        <a:t>connected manufacturing.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807084" indent="76200" algn="l">
                        <a:lnSpc>
                          <a:spcPct val="117499"/>
                        </a:lnSpc>
                        <a:spcBef>
                          <a:spcPts val="200"/>
                        </a:spcBef>
                        <a:defRPr spc="-35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Limited</a:t>
                      </a:r>
                      <a:r>
                        <a:rPr spc="-220"/>
                        <a:t> </a:t>
                      </a:r>
                      <a:r>
                        <a:rPr spc="-55"/>
                        <a:t>Digital</a:t>
                      </a:r>
                      <a:r>
                        <a:rPr spc="-220"/>
                        <a:t> </a:t>
                      </a:r>
                      <a:r>
                        <a:t>Twin </a:t>
                      </a:r>
                      <a:r>
                        <a:rPr spc="-10"/>
                        <a:t>integration.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</a:tr>
              <a:tr h="979169">
                <a:tc>
                  <a:txBody>
                    <a:bodyPr/>
                    <a:lstStyle/>
                    <a:p>
                      <a:pPr indent="75562" algn="l">
                        <a:spcBef>
                          <a:spcPts val="2300"/>
                        </a:spcBef>
                        <a:defRPr spc="-80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Kritzinger</a:t>
                      </a:r>
                      <a:r>
                        <a:rPr spc="-233"/>
                        <a:t> </a:t>
                      </a:r>
                      <a:r>
                        <a:rPr spc="-25"/>
                        <a:t>et</a:t>
                      </a:r>
                      <a:r>
                        <a:rPr spc="-229"/>
                        <a:t> </a:t>
                      </a:r>
                      <a:r>
                        <a:rPr spc="-120"/>
                        <a:t>al.</a:t>
                      </a:r>
                      <a:r>
                        <a:rPr spc="-233"/>
                        <a:t> </a:t>
                      </a:r>
                      <a:r>
                        <a:rPr spc="-10"/>
                        <a:t>(2024)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75562" algn="l">
                        <a:spcBef>
                          <a:spcPts val="2300"/>
                        </a:spcBef>
                        <a:defRPr spc="-55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Digital</a:t>
                      </a:r>
                      <a:r>
                        <a:rPr spc="-225"/>
                        <a:t> </a:t>
                      </a:r>
                      <a:r>
                        <a:rPr spc="-20"/>
                        <a:t>Twin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618490" indent="76200" algn="l">
                        <a:lnSpc>
                          <a:spcPct val="117499"/>
                        </a:lnSpc>
                        <a:spcBef>
                          <a:spcPts val="200"/>
                        </a:spcBef>
                        <a:defRPr spc="-85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Improves</a:t>
                      </a:r>
                      <a:r>
                        <a:rPr spc="-225"/>
                        <a:t> </a:t>
                      </a:r>
                      <a:r>
                        <a:rPr spc="-35"/>
                        <a:t>monitoring </a:t>
                      </a:r>
                      <a:r>
                        <a:rPr spc="-55"/>
                        <a:t>and</a:t>
                      </a:r>
                      <a:r>
                        <a:rPr spc="-254"/>
                        <a:t> </a:t>
                      </a:r>
                      <a:r>
                        <a:rPr spc="-10"/>
                        <a:t>efficiency.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1193163" indent="76200" algn="l">
                        <a:lnSpc>
                          <a:spcPct val="117499"/>
                        </a:lnSpc>
                        <a:spcBef>
                          <a:spcPts val="200"/>
                        </a:spcBef>
                        <a:defRPr spc="-35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Limited</a:t>
                      </a:r>
                      <a:r>
                        <a:rPr spc="-180"/>
                        <a:t> </a:t>
                      </a:r>
                      <a:r>
                        <a:rPr spc="-85"/>
                        <a:t>real-</a:t>
                      </a:r>
                      <a:r>
                        <a:rPr spc="-30"/>
                        <a:t>time </a:t>
                      </a:r>
                      <a:r>
                        <a:rPr spc="-10"/>
                        <a:t>analytics.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</a:tr>
              <a:tr h="979169">
                <a:tc>
                  <a:txBody>
                    <a:bodyPr/>
                    <a:lstStyle/>
                    <a:p>
                      <a:pPr indent="75562" algn="l">
                        <a:spcBef>
                          <a:spcPts val="2300"/>
                        </a:spcBef>
                        <a:defRPr spc="-30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Qi</a:t>
                      </a:r>
                      <a:r>
                        <a:rPr spc="-260"/>
                        <a:t> </a:t>
                      </a:r>
                      <a:r>
                        <a:rPr spc="-170"/>
                        <a:t>&amp;</a:t>
                      </a:r>
                      <a:r>
                        <a:rPr spc="-254"/>
                        <a:t> </a:t>
                      </a:r>
                      <a:r>
                        <a:rPr spc="-70"/>
                        <a:t>Tao</a:t>
                      </a:r>
                      <a:r>
                        <a:rPr spc="-260"/>
                        <a:t> </a:t>
                      </a:r>
                      <a:r>
                        <a:rPr spc="-10"/>
                        <a:t>(2025)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75562" algn="l">
                        <a:spcBef>
                          <a:spcPts val="2300"/>
                        </a:spcBef>
                        <a:defRPr spc="-55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Digital</a:t>
                      </a:r>
                      <a:r>
                        <a:rPr spc="-245"/>
                        <a:t> </a:t>
                      </a:r>
                      <a:r>
                        <a:rPr spc="-75"/>
                        <a:t>Twin</a:t>
                      </a:r>
                      <a:r>
                        <a:rPr spc="-245"/>
                        <a:t> </a:t>
                      </a:r>
                      <a:r>
                        <a:rPr spc="-760"/>
                        <a:t>+</a:t>
                      </a:r>
                      <a:r>
                        <a:rPr spc="-245"/>
                        <a:t> </a:t>
                      </a:r>
                      <a:r>
                        <a:rPr spc="-80"/>
                        <a:t>Big</a:t>
                      </a:r>
                      <a:r>
                        <a:rPr spc="-245"/>
                        <a:t> </a:t>
                      </a:r>
                      <a:r>
                        <a:rPr spc="-20"/>
                        <a:t>Data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751840" indent="76200" algn="l">
                        <a:lnSpc>
                          <a:spcPct val="117499"/>
                        </a:lnSpc>
                        <a:spcBef>
                          <a:spcPts val="200"/>
                        </a:spcBef>
                        <a:defRPr spc="-55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Enables</a:t>
                      </a:r>
                      <a:r>
                        <a:rPr spc="-185"/>
                        <a:t> </a:t>
                      </a:r>
                      <a:r>
                        <a:rPr spc="-85"/>
                        <a:t>data-</a:t>
                      </a:r>
                      <a:r>
                        <a:rPr spc="-10"/>
                        <a:t>driven manufacturing.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1147444" indent="76200" algn="l">
                        <a:lnSpc>
                          <a:spcPct val="117499"/>
                        </a:lnSpc>
                        <a:spcBef>
                          <a:spcPts val="200"/>
                        </a:spcBef>
                        <a:defRPr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Cloud</a:t>
                      </a:r>
                      <a:r>
                        <a:rPr spc="-250"/>
                        <a:t> </a:t>
                      </a:r>
                      <a:r>
                        <a:rPr spc="-40"/>
                        <a:t>integration </a:t>
                      </a:r>
                      <a:r>
                        <a:rPr spc="-10"/>
                        <a:t>needed.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</a:tr>
              <a:tr h="979169">
                <a:tc>
                  <a:txBody>
                    <a:bodyPr/>
                    <a:lstStyle/>
                    <a:p>
                      <a:pPr indent="75562" algn="l">
                        <a:spcBef>
                          <a:spcPts val="2300"/>
                        </a:spcBef>
                        <a:defRPr spc="-70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Tao</a:t>
                      </a:r>
                      <a:r>
                        <a:rPr spc="-254"/>
                        <a:t> </a:t>
                      </a:r>
                      <a:r>
                        <a:rPr spc="-25"/>
                        <a:t>et</a:t>
                      </a:r>
                      <a:r>
                        <a:rPr spc="-250"/>
                        <a:t> </a:t>
                      </a:r>
                      <a:r>
                        <a:rPr spc="-120"/>
                        <a:t>al.</a:t>
                      </a:r>
                      <a:r>
                        <a:rPr spc="-254"/>
                        <a:t> </a:t>
                      </a:r>
                      <a:r>
                        <a:rPr spc="-10"/>
                        <a:t>(2025)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75562" algn="l">
                        <a:spcBef>
                          <a:spcPts val="2300"/>
                        </a:spcBef>
                        <a:defRPr spc="-55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Digital</a:t>
                      </a:r>
                      <a:r>
                        <a:rPr spc="-225"/>
                        <a:t> </a:t>
                      </a:r>
                      <a:r>
                        <a:rPr spc="-20"/>
                        <a:t>Twin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646430" indent="76200" algn="l">
                        <a:lnSpc>
                          <a:spcPct val="117499"/>
                        </a:lnSpc>
                        <a:spcBef>
                          <a:spcPts val="200"/>
                        </a:spcBef>
                        <a:defRPr spc="-40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Supports</a:t>
                      </a:r>
                      <a:r>
                        <a:rPr spc="-215"/>
                        <a:t> </a:t>
                      </a:r>
                      <a:r>
                        <a:rPr spc="-35"/>
                        <a:t>monitoring </a:t>
                      </a:r>
                      <a:r>
                        <a:rPr spc="-55"/>
                        <a:t>and</a:t>
                      </a:r>
                      <a:r>
                        <a:rPr spc="-254"/>
                        <a:t> </a:t>
                      </a:r>
                      <a:r>
                        <a:rPr spc="-10"/>
                        <a:t>optimization.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1024255" indent="76200" algn="l">
                        <a:lnSpc>
                          <a:spcPct val="117499"/>
                        </a:lnSpc>
                        <a:spcBef>
                          <a:spcPts val="200"/>
                        </a:spcBef>
                        <a:defRPr spc="-35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Limited</a:t>
                      </a:r>
                      <a:r>
                        <a:rPr spc="-220"/>
                        <a:t> </a:t>
                      </a:r>
                      <a:r>
                        <a:rPr spc="-10"/>
                        <a:t>predictive maintenance.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</a:tr>
              <a:tr h="979169">
                <a:tc>
                  <a:txBody>
                    <a:bodyPr/>
                    <a:lstStyle/>
                    <a:p>
                      <a:pPr indent="75562" algn="l">
                        <a:spcBef>
                          <a:spcPts val="2300"/>
                        </a:spcBef>
                        <a:defRPr spc="-25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Fuller</a:t>
                      </a:r>
                      <a:r>
                        <a:rPr spc="-250"/>
                        <a:t> </a:t>
                      </a:r>
                      <a:r>
                        <a:t>et</a:t>
                      </a:r>
                      <a:r>
                        <a:rPr spc="-245"/>
                        <a:t> </a:t>
                      </a:r>
                      <a:r>
                        <a:rPr spc="-120"/>
                        <a:t>al.</a:t>
                      </a:r>
                      <a:r>
                        <a:rPr spc="-250"/>
                        <a:t> </a:t>
                      </a:r>
                      <a:r>
                        <a:rPr spc="-10"/>
                        <a:t>(2026)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75562" algn="l">
                        <a:spcBef>
                          <a:spcPts val="2300"/>
                        </a:spcBef>
                        <a:defRPr spc="-55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Digital</a:t>
                      </a:r>
                      <a:r>
                        <a:rPr spc="-225"/>
                        <a:t> </a:t>
                      </a:r>
                      <a:r>
                        <a:rPr spc="-20"/>
                        <a:t>Twin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614044" indent="76200" algn="l">
                        <a:lnSpc>
                          <a:spcPct val="117499"/>
                        </a:lnSpc>
                        <a:spcBef>
                          <a:spcPts val="200"/>
                        </a:spcBef>
                        <a:defRPr spc="-75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Reviews</a:t>
                      </a:r>
                      <a:r>
                        <a:rPr spc="-225"/>
                        <a:t> </a:t>
                      </a:r>
                      <a:r>
                        <a:rPr spc="-10"/>
                        <a:t>applications </a:t>
                      </a:r>
                      <a:r>
                        <a:rPr spc="-55"/>
                        <a:t>and</a:t>
                      </a:r>
                      <a:r>
                        <a:rPr spc="-254"/>
                        <a:t> </a:t>
                      </a:r>
                      <a:r>
                        <a:rPr spc="-10"/>
                        <a:t>challenges.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R="672465" indent="76200" algn="l">
                        <a:lnSpc>
                          <a:spcPct val="117499"/>
                        </a:lnSpc>
                        <a:spcBef>
                          <a:spcPts val="200"/>
                        </a:spcBef>
                        <a:defRPr spc="-40" sz="2500">
                          <a:latin typeface="Verdana"/>
                          <a:ea typeface="Verdana"/>
                          <a:cs typeface="Verdana"/>
                          <a:sym typeface="Verdana"/>
                        </a:defRPr>
                      </a:pPr>
                      <a:r>
                        <a:t>Scalability</a:t>
                      </a:r>
                      <a:r>
                        <a:rPr spc="-200"/>
                        <a:t> </a:t>
                      </a:r>
                      <a:r>
                        <a:rPr spc="-80"/>
                        <a:t>remains</a:t>
                      </a:r>
                      <a:r>
                        <a:rPr spc="-195"/>
                        <a:t> </a:t>
                      </a:r>
                      <a:r>
                        <a:rPr spc="-50"/>
                        <a:t>a </a:t>
                      </a:r>
                      <a:r>
                        <a:rPr spc="-10"/>
                        <a:t>challenge.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D9D9D9"/>
                      </a:solidFill>
                    </a:lnL>
                    <a:lnR>
                      <a:solidFill>
                        <a:srgbClr val="D9D9D9"/>
                      </a:solidFill>
                    </a:lnR>
                    <a:lnT>
                      <a:solidFill>
                        <a:srgbClr val="D9D9D9"/>
                      </a:solidFill>
                    </a:lnT>
                    <a:lnB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6" name="object 3"/>
          <p:cNvSpPr txBox="1"/>
          <p:nvPr>
            <p:ph type="title"/>
          </p:nvPr>
        </p:nvSpPr>
        <p:spPr>
          <a:xfrm>
            <a:off x="5189475" y="643464"/>
            <a:ext cx="8721693" cy="665483"/>
          </a:xfrm>
          <a:prstGeom prst="rect">
            <a:avLst/>
          </a:prstGeom>
        </p:spPr>
        <p:txBody>
          <a:bodyPr/>
          <a:lstStyle>
            <a:lvl1pPr indent="9932" defTabSz="715151">
              <a:defRPr b="1" spc="-400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        LITERATURE SURVEY</a:t>
            </a:r>
          </a:p>
        </p:txBody>
      </p:sp>
      <p:pic>
        <p:nvPicPr>
          <p:cNvPr id="77" name="object 4" descr="object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831" y="176104"/>
            <a:ext cx="1256147" cy="1600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725973" y="176980"/>
            <a:ext cx="1571627" cy="1600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object 4"/>
          <p:cNvSpPr txBox="1"/>
          <p:nvPr/>
        </p:nvSpPr>
        <p:spPr>
          <a:xfrm>
            <a:off x="1707455" y="2468589"/>
            <a:ext cx="15565120" cy="4782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20841" marR="1802763" indent="-320841" algn="just">
              <a:lnSpc>
                <a:spcPct val="150000"/>
              </a:lnSpc>
              <a:buSzPct val="100000"/>
              <a:buChar char="•"/>
              <a:defRPr spc="100"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Manufacturing</a:t>
            </a:r>
            <a:r>
              <a:rPr spc="-100"/>
              <a:t> </a:t>
            </a:r>
            <a:r>
              <a:rPr spc="114"/>
              <a:t>machines</a:t>
            </a:r>
            <a:r>
              <a:rPr spc="-95"/>
              <a:t> </a:t>
            </a:r>
            <a:r>
              <a:rPr spc="55"/>
              <a:t>are</a:t>
            </a:r>
            <a:r>
              <a:rPr spc="-95"/>
              <a:t> </a:t>
            </a:r>
            <a:r>
              <a:rPr spc="65"/>
              <a:t>difficult</a:t>
            </a:r>
            <a:r>
              <a:rPr spc="-100"/>
              <a:t> </a:t>
            </a:r>
            <a:r>
              <a:rPr spc="0"/>
              <a:t>to</a:t>
            </a:r>
            <a:r>
              <a:rPr spc="-95"/>
              <a:t> </a:t>
            </a:r>
            <a:r>
              <a:rPr spc="50"/>
              <a:t>monitor</a:t>
            </a:r>
            <a:r>
              <a:rPr spc="-95"/>
              <a:t> </a:t>
            </a:r>
            <a:r>
              <a:rPr spc="95"/>
              <a:t>continuously</a:t>
            </a:r>
            <a:r>
              <a:rPr spc="-100"/>
              <a:t> </a:t>
            </a:r>
            <a:r>
              <a:rPr spc="0"/>
              <a:t>in</a:t>
            </a:r>
            <a:r>
              <a:rPr spc="-95"/>
              <a:t> </a:t>
            </a:r>
            <a:r>
              <a:rPr spc="50"/>
              <a:t>real</a:t>
            </a:r>
            <a:r>
              <a:rPr spc="-95"/>
              <a:t> </a:t>
            </a:r>
            <a:r>
              <a:rPr spc="-20"/>
              <a:t>time. </a:t>
            </a:r>
            <a:r>
              <a:rPr spc="125"/>
              <a:t>Unexpected</a:t>
            </a:r>
            <a:r>
              <a:rPr spc="-114"/>
              <a:t> </a:t>
            </a:r>
            <a:r>
              <a:t>machine</a:t>
            </a:r>
            <a:r>
              <a:rPr spc="-110"/>
              <a:t> </a:t>
            </a:r>
            <a:r>
              <a:rPr spc="60"/>
              <a:t>failures</a:t>
            </a:r>
            <a:r>
              <a:rPr spc="-110"/>
              <a:t> </a:t>
            </a:r>
            <a:r>
              <a:rPr spc="160"/>
              <a:t>cause</a:t>
            </a:r>
            <a:r>
              <a:rPr spc="-110"/>
              <a:t> </a:t>
            </a:r>
            <a:r>
              <a:rPr spc="90"/>
              <a:t>production</a:t>
            </a:r>
            <a:r>
              <a:rPr spc="-114"/>
              <a:t> </a:t>
            </a:r>
            <a:r>
              <a:rPr spc="110"/>
              <a:t>delays</a:t>
            </a:r>
            <a:r>
              <a:rPr spc="-110"/>
              <a:t> </a:t>
            </a:r>
            <a:r>
              <a:rPr spc="95"/>
              <a:t>and</a:t>
            </a:r>
            <a:r>
              <a:rPr spc="-110"/>
              <a:t> </a:t>
            </a:r>
            <a:r>
              <a:rPr spc="45"/>
              <a:t>downtime.</a:t>
            </a:r>
          </a:p>
          <a:p>
            <a:pPr marL="320841" marR="5080" indent="-320841" algn="just">
              <a:lnSpc>
                <a:spcPct val="150000"/>
              </a:lnSpc>
              <a:spcBef>
                <a:spcPts val="300"/>
              </a:spcBef>
              <a:buSzPct val="100000"/>
              <a:buChar char="•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Traditional</a:t>
            </a:r>
            <a:r>
              <a:rPr spc="65"/>
              <a:t> </a:t>
            </a:r>
            <a:r>
              <a:rPr spc="55"/>
              <a:t>monitoring</a:t>
            </a:r>
            <a:r>
              <a:rPr spc="70"/>
              <a:t> </a:t>
            </a:r>
            <a:r>
              <a:rPr spc="125"/>
              <a:t>systems</a:t>
            </a:r>
            <a:r>
              <a:rPr spc="70"/>
              <a:t> </a:t>
            </a:r>
            <a:r>
              <a:rPr spc="104"/>
              <a:t>cannot</a:t>
            </a:r>
            <a:r>
              <a:rPr spc="65"/>
              <a:t> </a:t>
            </a:r>
            <a:r>
              <a:rPr spc="75"/>
              <a:t>efficiently</a:t>
            </a:r>
            <a:r>
              <a:rPr spc="70"/>
              <a:t> </a:t>
            </a:r>
            <a:r>
              <a:rPr spc="155"/>
              <a:t>process</a:t>
            </a:r>
            <a:r>
              <a:rPr spc="70"/>
              <a:t> </a:t>
            </a:r>
            <a:r>
              <a:rPr spc="60"/>
              <a:t>large</a:t>
            </a:r>
            <a:r>
              <a:rPr spc="70"/>
              <a:t> </a:t>
            </a:r>
            <a:r>
              <a:rPr spc="100"/>
              <a:t>volumes</a:t>
            </a:r>
            <a:r>
              <a:rPr spc="65"/>
              <a:t> </a:t>
            </a:r>
            <a:r>
              <a:rPr spc="120"/>
              <a:t>of</a:t>
            </a:r>
            <a:r>
              <a:rPr spc="70"/>
              <a:t> </a:t>
            </a:r>
            <a:r>
              <a:rPr spc="114"/>
              <a:t>sensor </a:t>
            </a:r>
            <a:r>
              <a:rPr spc="-10"/>
              <a:t>data.</a:t>
            </a:r>
          </a:p>
          <a:p>
            <a:pPr marL="320841" indent="-320841" algn="just">
              <a:lnSpc>
                <a:spcPct val="150000"/>
              </a:lnSpc>
              <a:spcBef>
                <a:spcPts val="800"/>
              </a:spcBef>
              <a:buSzPct val="100000"/>
              <a:buChar char="•"/>
              <a:defRPr spc="110"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Maintenance</a:t>
            </a:r>
            <a:r>
              <a:rPr spc="-50"/>
              <a:t> </a:t>
            </a:r>
            <a:r>
              <a:rPr spc="104"/>
              <a:t>is</a:t>
            </a:r>
            <a:r>
              <a:rPr spc="-45"/>
              <a:t> </a:t>
            </a:r>
            <a:r>
              <a:rPr spc="85"/>
              <a:t>usually</a:t>
            </a:r>
            <a:r>
              <a:rPr spc="-50"/>
              <a:t> </a:t>
            </a:r>
            <a:r>
              <a:rPr spc="95"/>
              <a:t>performed</a:t>
            </a:r>
            <a:r>
              <a:rPr spc="-45"/>
              <a:t> </a:t>
            </a:r>
            <a:r>
              <a:rPr spc="0"/>
              <a:t>after</a:t>
            </a:r>
            <a:r>
              <a:rPr spc="-45"/>
              <a:t> </a:t>
            </a:r>
            <a:r>
              <a:rPr spc="75"/>
              <a:t>equipment</a:t>
            </a:r>
            <a:r>
              <a:rPr spc="-50"/>
              <a:t> </a:t>
            </a:r>
            <a:r>
              <a:rPr spc="0"/>
              <a:t>failure</a:t>
            </a:r>
            <a:r>
              <a:rPr spc="-45"/>
              <a:t> </a:t>
            </a:r>
            <a:r>
              <a:rPr spc="120"/>
              <a:t>occurs.</a:t>
            </a:r>
          </a:p>
          <a:p>
            <a:pPr marL="320841" marR="5080" indent="-320841" algn="just">
              <a:lnSpc>
                <a:spcPct val="150000"/>
              </a:lnSpc>
              <a:spcBef>
                <a:spcPts val="100"/>
              </a:spcBef>
              <a:buSzPct val="100000"/>
              <a:buChar char="•"/>
              <a:tabLst>
                <a:tab pos="2133600" algn="l"/>
                <a:tab pos="3365500" algn="l"/>
                <a:tab pos="3860800" algn="l"/>
                <a:tab pos="6527800" algn="l"/>
                <a:tab pos="7937500" algn="l"/>
                <a:tab pos="9017000" algn="l"/>
                <a:tab pos="10642600" algn="l"/>
                <a:tab pos="11442700" algn="l"/>
                <a:tab pos="13411200" algn="l"/>
              </a:tabLst>
              <a:defRPr spc="170"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Lack</a:t>
            </a:r>
            <a:r>
              <a:rPr spc="-95"/>
              <a:t> </a:t>
            </a:r>
            <a:r>
              <a:rPr spc="120"/>
              <a:t>of</a:t>
            </a:r>
            <a:r>
              <a:rPr spc="-95"/>
              <a:t> </a:t>
            </a:r>
            <a:r>
              <a:rPr spc="95"/>
              <a:t>real-</a:t>
            </a:r>
            <a:r>
              <a:rPr spc="0"/>
              <a:t>time</a:t>
            </a:r>
            <a:r>
              <a:rPr spc="-95"/>
              <a:t> </a:t>
            </a:r>
            <a:r>
              <a:rPr spc="100"/>
              <a:t>analytics</a:t>
            </a:r>
            <a:r>
              <a:rPr spc="-95"/>
              <a:t> </a:t>
            </a:r>
            <a:r>
              <a:rPr spc="95"/>
              <a:t>affects</a:t>
            </a:r>
            <a:r>
              <a:rPr spc="-95"/>
              <a:t> </a:t>
            </a:r>
            <a:r>
              <a:rPr spc="90"/>
              <a:t>production</a:t>
            </a:r>
            <a:r>
              <a:rPr spc="-95"/>
              <a:t> </a:t>
            </a:r>
            <a:r>
              <a:rPr spc="110"/>
              <a:t>efficiency</a:t>
            </a:r>
            <a:r>
              <a:rPr spc="-90"/>
              <a:t> </a:t>
            </a:r>
            <a:r>
              <a:rPr spc="95"/>
              <a:t>and</a:t>
            </a:r>
            <a:r>
              <a:rPr spc="-95"/>
              <a:t> </a:t>
            </a:r>
            <a:r>
              <a:rPr spc="100"/>
              <a:t>machine</a:t>
            </a:r>
            <a:r>
              <a:rPr spc="-95"/>
              <a:t> </a:t>
            </a:r>
            <a:r>
              <a:rPr spc="-10"/>
              <a:t>utilization. Industries</a:t>
            </a:r>
            <a:r>
              <a:rPr spc="0"/>
              <a:t>	</a:t>
            </a:r>
            <a:r>
              <a:rPr spc="95"/>
              <a:t>need</a:t>
            </a:r>
            <a:r>
              <a:rPr spc="0"/>
              <a:t> </a:t>
            </a:r>
            <a:r>
              <a:rPr spc="30"/>
              <a:t>a</a:t>
            </a:r>
            <a:r>
              <a:rPr spc="0"/>
              <a:t>	</a:t>
            </a:r>
            <a:r>
              <a:rPr spc="150"/>
              <a:t>cloud-</a:t>
            </a:r>
            <a:r>
              <a:rPr spc="125"/>
              <a:t>based</a:t>
            </a:r>
            <a:r>
              <a:rPr spc="0"/>
              <a:t> </a:t>
            </a:r>
            <a:r>
              <a:rPr spc="40"/>
              <a:t>digital</a:t>
            </a:r>
            <a:r>
              <a:rPr spc="0"/>
              <a:t> t</a:t>
            </a:r>
            <a:r>
              <a:rPr spc="45"/>
              <a:t>win</a:t>
            </a:r>
            <a:r>
              <a:rPr spc="0"/>
              <a:t> </a:t>
            </a:r>
            <a:r>
              <a:rPr spc="104"/>
              <a:t>system</a:t>
            </a:r>
            <a:r>
              <a:rPr spc="0"/>
              <a:t>	</a:t>
            </a:r>
            <a:r>
              <a:rPr spc="30"/>
              <a:t>for</a:t>
            </a:r>
            <a:r>
              <a:rPr spc="0"/>
              <a:t> r</a:t>
            </a:r>
            <a:r>
              <a:rPr spc="95"/>
              <a:t>eal-</a:t>
            </a:r>
            <a:r>
              <a:rPr spc="-20"/>
              <a:t>time</a:t>
            </a:r>
            <a:r>
              <a:rPr spc="0"/>
              <a:t> </a:t>
            </a:r>
            <a:r>
              <a:rPr spc="-10"/>
              <a:t>monitoring, </a:t>
            </a:r>
            <a:r>
              <a:rPr spc="85"/>
              <a:t>predictive</a:t>
            </a:r>
            <a:r>
              <a:rPr spc="-114"/>
              <a:t> </a:t>
            </a:r>
            <a:r>
              <a:rPr spc="65"/>
              <a:t>maintenance,</a:t>
            </a:r>
            <a:r>
              <a:rPr spc="-114"/>
              <a:t> </a:t>
            </a:r>
            <a:r>
              <a:rPr spc="95"/>
              <a:t>and</a:t>
            </a:r>
            <a:r>
              <a:rPr spc="-110"/>
              <a:t> </a:t>
            </a:r>
            <a:r>
              <a:rPr spc="155"/>
              <a:t>process</a:t>
            </a:r>
            <a:r>
              <a:rPr spc="-114"/>
              <a:t> </a:t>
            </a:r>
            <a:r>
              <a:rPr spc="40"/>
              <a:t>optimization.</a:t>
            </a:r>
          </a:p>
        </p:txBody>
      </p:sp>
      <p:pic>
        <p:nvPicPr>
          <p:cNvPr id="81" name="object 10" descr="object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408" y="176980"/>
            <a:ext cx="1477820" cy="1876426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object 11" descr="object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23291" y="176980"/>
            <a:ext cx="1838327" cy="1876426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PROBLEM STATEMENT"/>
          <p:cNvSpPr txBox="1"/>
          <p:nvPr/>
        </p:nvSpPr>
        <p:spPr>
          <a:xfrm>
            <a:off x="5078536" y="944971"/>
            <a:ext cx="8542355" cy="751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    PROBLEM STATEMENT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 txBox="1"/>
          <p:nvPr>
            <p:ph type="title"/>
          </p:nvPr>
        </p:nvSpPr>
        <p:spPr>
          <a:xfrm>
            <a:off x="6580030" y="730064"/>
            <a:ext cx="4749588" cy="665483"/>
          </a:xfrm>
          <a:prstGeom prst="rect">
            <a:avLst/>
          </a:prstGeom>
        </p:spPr>
        <p:txBody>
          <a:bodyPr/>
          <a:lstStyle>
            <a:lvl1pPr indent="12573" defTabSz="452627">
              <a:defRPr b="1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    OBJECTIVE</a:t>
            </a:r>
          </a:p>
        </p:txBody>
      </p:sp>
      <p:sp>
        <p:nvSpPr>
          <p:cNvPr id="86" name="object 4"/>
          <p:cNvSpPr txBox="1"/>
          <p:nvPr>
            <p:ph type="body" idx="1"/>
          </p:nvPr>
        </p:nvSpPr>
        <p:spPr>
          <a:xfrm>
            <a:off x="1135748" y="2921598"/>
            <a:ext cx="16725577" cy="6364267"/>
          </a:xfrm>
          <a:prstGeom prst="rect">
            <a:avLst/>
          </a:prstGeom>
        </p:spPr>
        <p:txBody>
          <a:bodyPr/>
          <a:lstStyle/>
          <a:p>
            <a:pPr marL="320841" marR="466725" indent="-320841" algn="just">
              <a:lnSpc>
                <a:spcPct val="150000"/>
              </a:lnSpc>
              <a:spcBef>
                <a:spcPts val="100"/>
              </a:spcBef>
              <a:buSzPct val="100000"/>
              <a:buChar char="•"/>
              <a:defRPr spc="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Collect</a:t>
            </a:r>
            <a:r>
              <a:rPr spc="-100"/>
              <a:t> </a:t>
            </a:r>
            <a:r>
              <a:rPr spc="0"/>
              <a:t>real-time</a:t>
            </a:r>
            <a:r>
              <a:rPr spc="-100"/>
              <a:t> </a:t>
            </a:r>
            <a:r>
              <a:t>machine</a:t>
            </a:r>
            <a:r>
              <a:rPr spc="-100"/>
              <a:t> </a:t>
            </a:r>
            <a:r>
              <a:rPr spc="0"/>
              <a:t>and</a:t>
            </a:r>
            <a:r>
              <a:rPr spc="-100"/>
              <a:t> </a:t>
            </a:r>
            <a:r>
              <a:t>sensor</a:t>
            </a:r>
            <a:r>
              <a:rPr spc="-100"/>
              <a:t> </a:t>
            </a:r>
            <a:r>
              <a:rPr spc="0"/>
              <a:t>data</a:t>
            </a:r>
            <a:r>
              <a:rPr spc="-100"/>
              <a:t> </a:t>
            </a:r>
            <a:r>
              <a:rPr spc="0"/>
              <a:t>from</a:t>
            </a:r>
            <a:r>
              <a:rPr spc="-100"/>
              <a:t> </a:t>
            </a:r>
            <a:r>
              <a:rPr spc="0"/>
              <a:t>the</a:t>
            </a:r>
            <a:r>
              <a:rPr spc="-100"/>
              <a:t> </a:t>
            </a:r>
            <a:r>
              <a:rPr spc="0"/>
              <a:t>manufacturing</a:t>
            </a:r>
            <a:r>
              <a:rPr spc="-100"/>
              <a:t> </a:t>
            </a:r>
            <a:r>
              <a:t>process. Create</a:t>
            </a:r>
            <a:r>
              <a:rPr spc="-100"/>
              <a:t> </a:t>
            </a:r>
            <a:r>
              <a:rPr spc="0"/>
              <a:t>a</a:t>
            </a:r>
            <a:r>
              <a:rPr spc="-100"/>
              <a:t> </a:t>
            </a:r>
            <a:endParaRPr spc="-100"/>
          </a:p>
          <a:p>
            <a:pPr marL="320841" marR="466725" indent="-320841" algn="just">
              <a:lnSpc>
                <a:spcPct val="150000"/>
              </a:lnSpc>
              <a:spcBef>
                <a:spcPts val="100"/>
              </a:spcBef>
              <a:buSzPct val="100000"/>
              <a:buChar char="•"/>
              <a:defRPr spc="-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</a:t>
            </a:r>
            <a:r>
              <a:rPr spc="0"/>
              <a:t>igital</a:t>
            </a:r>
            <a:r>
              <a:t> </a:t>
            </a:r>
            <a:r>
              <a:rPr spc="0"/>
              <a:t>Twin</a:t>
            </a:r>
            <a:r>
              <a:t> </a:t>
            </a:r>
            <a:r>
              <a:rPr spc="0"/>
              <a:t>model</a:t>
            </a:r>
            <a:r>
              <a:t> </a:t>
            </a:r>
            <a:r>
              <a:rPr spc="0"/>
              <a:t>to</a:t>
            </a:r>
            <a:r>
              <a:t> </a:t>
            </a:r>
            <a:r>
              <a:rPr spc="0"/>
              <a:t>represent</a:t>
            </a:r>
            <a:r>
              <a:t> </a:t>
            </a:r>
            <a:r>
              <a:rPr spc="100"/>
              <a:t>physical</a:t>
            </a:r>
            <a:r>
              <a:t> </a:t>
            </a:r>
            <a:r>
              <a:rPr spc="100"/>
              <a:t>machines</a:t>
            </a:r>
            <a:r>
              <a:t> virtually.</a:t>
            </a:r>
          </a:p>
          <a:p>
            <a:pPr marL="320841" marR="4574540" indent="-320841" algn="just">
              <a:lnSpc>
                <a:spcPct val="150000"/>
              </a:lnSpc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Store</a:t>
            </a:r>
            <a:r>
              <a:rPr spc="-200"/>
              <a:t> </a:t>
            </a:r>
            <a:r>
              <a:t>and</a:t>
            </a:r>
            <a:r>
              <a:rPr spc="-200"/>
              <a:t> </a:t>
            </a:r>
            <a:r>
              <a:rPr spc="100"/>
              <a:t>process</a:t>
            </a:r>
            <a:r>
              <a:rPr spc="-200"/>
              <a:t> </a:t>
            </a:r>
            <a:r>
              <a:t>data</a:t>
            </a:r>
            <a:r>
              <a:rPr spc="-200"/>
              <a:t> </a:t>
            </a:r>
            <a:r>
              <a:t>using</a:t>
            </a:r>
            <a:r>
              <a:rPr spc="-200"/>
              <a:t> </a:t>
            </a:r>
            <a:r>
              <a:rPr spc="100"/>
              <a:t>Cloud</a:t>
            </a:r>
            <a:r>
              <a:rPr spc="-200"/>
              <a:t> </a:t>
            </a:r>
            <a:r>
              <a:t>Computing. </a:t>
            </a:r>
            <a:r>
              <a:rPr spc="100"/>
              <a:t>Analyze</a:t>
            </a:r>
            <a:r>
              <a:rPr spc="-200"/>
              <a:t> </a:t>
            </a:r>
            <a:r>
              <a:t>production</a:t>
            </a:r>
            <a:r>
              <a:rPr spc="-200"/>
              <a:t> </a:t>
            </a:r>
            <a:r>
              <a:rPr spc="100"/>
              <a:t>efficiency</a:t>
            </a:r>
            <a:r>
              <a:rPr spc="-200"/>
              <a:t> </a:t>
            </a:r>
            <a:r>
              <a:t>and</a:t>
            </a:r>
            <a:r>
              <a:rPr spc="-200"/>
              <a:t> </a:t>
            </a:r>
            <a:r>
              <a:rPr spc="100"/>
              <a:t>machine</a:t>
            </a:r>
            <a:r>
              <a:rPr spc="-200"/>
              <a:t> </a:t>
            </a:r>
            <a:r>
              <a:rPr spc="-100"/>
              <a:t>utilization.</a:t>
            </a:r>
            <a:endParaRPr spc="-100"/>
          </a:p>
          <a:p>
            <a:pPr marL="320841" marR="1656077" indent="-320841" algn="just">
              <a:lnSpc>
                <a:spcPct val="150000"/>
              </a:lnSpc>
              <a:buSzPct val="100000"/>
              <a:buChar char="•"/>
              <a:defRPr spc="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Apply</a:t>
            </a:r>
            <a:r>
              <a:rPr spc="-200"/>
              <a:t> </a:t>
            </a:r>
            <a:r>
              <a:t>Big</a:t>
            </a:r>
            <a:r>
              <a:rPr spc="-200"/>
              <a:t> </a:t>
            </a:r>
            <a:r>
              <a:rPr spc="0"/>
              <a:t>Data</a:t>
            </a:r>
            <a:r>
              <a:rPr spc="-200"/>
              <a:t> </a:t>
            </a:r>
            <a:r>
              <a:t>Analytics</a:t>
            </a:r>
            <a:r>
              <a:rPr spc="-200"/>
              <a:t> </a:t>
            </a:r>
            <a:r>
              <a:rPr spc="0"/>
              <a:t>to</a:t>
            </a:r>
            <a:r>
              <a:rPr spc="-200"/>
              <a:t> </a:t>
            </a:r>
            <a:r>
              <a:rPr spc="0"/>
              <a:t>identify</a:t>
            </a:r>
            <a:r>
              <a:rPr spc="-200"/>
              <a:t> </a:t>
            </a:r>
            <a:r>
              <a:rPr spc="0"/>
              <a:t>patterns</a:t>
            </a:r>
            <a:r>
              <a:rPr spc="-200"/>
              <a:t> </a:t>
            </a:r>
            <a:r>
              <a:rPr spc="0"/>
              <a:t>and</a:t>
            </a:r>
            <a:r>
              <a:rPr spc="-200"/>
              <a:t> </a:t>
            </a:r>
            <a:r>
              <a:t>performance</a:t>
            </a:r>
            <a:r>
              <a:rPr spc="-200"/>
              <a:t> </a:t>
            </a:r>
            <a:r>
              <a:rPr spc="0"/>
              <a:t>issues. </a:t>
            </a:r>
            <a:r>
              <a:t>Predict</a:t>
            </a:r>
            <a:r>
              <a:rPr spc="-100"/>
              <a:t> </a:t>
            </a:r>
            <a:r>
              <a:t>machine</a:t>
            </a:r>
            <a:r>
              <a:rPr spc="-100"/>
              <a:t> </a:t>
            </a:r>
            <a:r>
              <a:rPr spc="0"/>
              <a:t>failures</a:t>
            </a:r>
            <a:r>
              <a:rPr spc="-100"/>
              <a:t> </a:t>
            </a:r>
            <a:r>
              <a:rPr spc="0"/>
              <a:t>using</a:t>
            </a:r>
            <a:r>
              <a:rPr spc="-100"/>
              <a:t> </a:t>
            </a:r>
            <a:r>
              <a:t>Machine</a:t>
            </a:r>
            <a:r>
              <a:rPr spc="-100"/>
              <a:t> </a:t>
            </a:r>
            <a:r>
              <a:rPr spc="0"/>
              <a:t>Learning</a:t>
            </a:r>
            <a:r>
              <a:rPr spc="-100"/>
              <a:t> </a:t>
            </a:r>
            <a:r>
              <a:rPr spc="0"/>
              <a:t>techniques.</a:t>
            </a:r>
          </a:p>
          <a:p>
            <a:pPr marL="320841" marR="5080" indent="-320841" algn="just">
              <a:lnSpc>
                <a:spcPct val="150000"/>
              </a:lnSpc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Display real-time insights through an </a:t>
            </a:r>
            <a:r>
              <a:rPr spc="100"/>
              <a:t>Analytics</a:t>
            </a:r>
            <a:r>
              <a:t> </a:t>
            </a:r>
            <a:r>
              <a:rPr spc="100"/>
              <a:t>Dashboard</a:t>
            </a:r>
            <a:r>
              <a:t> for better </a:t>
            </a:r>
            <a:r>
              <a:rPr spc="100"/>
              <a:t>decision-</a:t>
            </a:r>
            <a:r>
              <a:t>making.</a:t>
            </a:r>
          </a:p>
        </p:txBody>
      </p:sp>
      <p:pic>
        <p:nvPicPr>
          <p:cNvPr id="87" name="object 11" descr="object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408" y="176980"/>
            <a:ext cx="1394690" cy="1771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object 12" descr="object 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23291" y="176980"/>
            <a:ext cx="1733552" cy="17716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object 6"/>
          <p:cNvSpPr txBox="1"/>
          <p:nvPr/>
        </p:nvSpPr>
        <p:spPr>
          <a:xfrm>
            <a:off x="1504950" y="2780282"/>
            <a:ext cx="15278102" cy="5182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10813" marR="5080" indent="-310813" algn="just">
              <a:lnSpc>
                <a:spcPct val="150000"/>
              </a:lnSpc>
              <a:buSzPct val="100000"/>
              <a:buChar char="•"/>
              <a:tabLst>
                <a:tab pos="1790700" algn="l"/>
                <a:tab pos="3657600" algn="l"/>
                <a:tab pos="5372100" algn="l"/>
                <a:tab pos="6489700" algn="l"/>
                <a:tab pos="8051800" algn="l"/>
                <a:tab pos="10045700" algn="l"/>
                <a:tab pos="11861800" algn="l"/>
                <a:tab pos="12585700" algn="l"/>
              </a:tabLst>
              <a:defRPr spc="160" sz="3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Traditional machine monitoring systems are widely used in manufacturing industries.</a:t>
            </a:r>
          </a:p>
          <a:p>
            <a:pPr marL="310813" marR="5080" indent="-310813" algn="just">
              <a:lnSpc>
                <a:spcPct val="150000"/>
              </a:lnSpc>
              <a:buSzPct val="100000"/>
              <a:buChar char="•"/>
              <a:tabLst>
                <a:tab pos="1790700" algn="l"/>
                <a:tab pos="3657600" algn="l"/>
                <a:tab pos="5372100" algn="l"/>
                <a:tab pos="6489700" algn="l"/>
                <a:tab pos="8051800" algn="l"/>
                <a:tab pos="10045700" algn="l"/>
                <a:tab pos="11861800" algn="l"/>
                <a:tab pos="12585700" algn="l"/>
              </a:tabLst>
              <a:defRPr spc="160" sz="3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</a:t>
            </a:r>
            <a:r>
              <a:rPr spc="-95"/>
              <a:t> </a:t>
            </a:r>
            <a:r>
              <a:rPr spc="114"/>
              <a:t>and</a:t>
            </a:r>
            <a:r>
              <a:rPr spc="-95"/>
              <a:t> </a:t>
            </a:r>
            <a:r>
              <a:rPr spc="104"/>
              <a:t>production</a:t>
            </a:r>
            <a:r>
              <a:rPr spc="-90"/>
              <a:t> </a:t>
            </a:r>
            <a:r>
              <a:rPr spc="85"/>
              <a:t>data</a:t>
            </a:r>
            <a:r>
              <a:rPr spc="-95"/>
              <a:t> </a:t>
            </a:r>
            <a:r>
              <a:rPr spc="70"/>
              <a:t>are</a:t>
            </a:r>
            <a:r>
              <a:rPr spc="-90"/>
              <a:t> </a:t>
            </a:r>
            <a:r>
              <a:rPr spc="135"/>
              <a:t>collected</a:t>
            </a:r>
            <a:r>
              <a:rPr spc="-95"/>
              <a:t> </a:t>
            </a:r>
            <a:r>
              <a:rPr spc="80"/>
              <a:t>manually</a:t>
            </a:r>
            <a:r>
              <a:rPr spc="-90"/>
              <a:t> </a:t>
            </a:r>
            <a:r>
              <a:rPr spc="80"/>
              <a:t>or</a:t>
            </a:r>
            <a:r>
              <a:rPr spc="-95"/>
              <a:t> </a:t>
            </a:r>
            <a:r>
              <a:rPr spc="0"/>
              <a:t>at</a:t>
            </a:r>
            <a:r>
              <a:rPr spc="-90"/>
              <a:t> </a:t>
            </a:r>
            <a:r>
              <a:rPr spc="125"/>
              <a:t>periodic</a:t>
            </a:r>
            <a:r>
              <a:rPr spc="-95"/>
              <a:t> </a:t>
            </a:r>
            <a:r>
              <a:rPr spc="50"/>
              <a:t>intervals. </a:t>
            </a:r>
            <a:r>
              <a:rPr spc="80"/>
              <a:t>Existing</a:t>
            </a:r>
            <a:r>
              <a:rPr spc="0"/>
              <a:t>	</a:t>
            </a:r>
            <a:r>
              <a:rPr spc="130"/>
              <a:t>systems</a:t>
            </a:r>
            <a:r>
              <a:rPr spc="0"/>
              <a:t>	</a:t>
            </a:r>
            <a:r>
              <a:rPr spc="90"/>
              <a:t>provide</a:t>
            </a:r>
            <a:r>
              <a:rPr spc="0"/>
              <a:t> </a:t>
            </a:r>
            <a:r>
              <a:rPr spc="85"/>
              <a:t>only </a:t>
            </a:r>
            <a:r>
              <a:rPr spc="45"/>
              <a:t>limited</a:t>
            </a:r>
            <a:r>
              <a:rPr spc="0"/>
              <a:t>	</a:t>
            </a:r>
            <a:r>
              <a:rPr spc="104"/>
              <a:t>real-</a:t>
            </a:r>
            <a:r>
              <a:rPr spc="35"/>
              <a:t>time</a:t>
            </a:r>
            <a:r>
              <a:rPr spc="0"/>
              <a:t> </a:t>
            </a:r>
            <a:r>
              <a:rPr spc="70"/>
              <a:t>visibility</a:t>
            </a:r>
            <a:r>
              <a:rPr spc="0"/>
              <a:t> </a:t>
            </a:r>
            <a:r>
              <a:rPr spc="104"/>
              <a:t>of</a:t>
            </a:r>
            <a:r>
              <a:rPr spc="0"/>
              <a:t> </a:t>
            </a:r>
            <a:r>
              <a:rPr spc="80"/>
              <a:t>manufacturing </a:t>
            </a:r>
            <a:r>
              <a:rPr spc="135"/>
              <a:t>processes.</a:t>
            </a:r>
          </a:p>
          <a:p>
            <a:pPr marL="310813" marR="5080" indent="-310813" algn="just">
              <a:lnSpc>
                <a:spcPct val="150000"/>
              </a:lnSpc>
              <a:buSzPct val="100000"/>
              <a:buChar char="•"/>
              <a:defRPr spc="125" sz="3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Maintenance</a:t>
            </a:r>
            <a:r>
              <a:rPr spc="45"/>
              <a:t> </a:t>
            </a:r>
            <a:r>
              <a:rPr spc="90"/>
              <a:t>activities</a:t>
            </a:r>
            <a:r>
              <a:rPr spc="45"/>
              <a:t> </a:t>
            </a:r>
            <a:r>
              <a:rPr spc="70"/>
              <a:t>are</a:t>
            </a:r>
            <a:r>
              <a:rPr spc="45"/>
              <a:t> </a:t>
            </a:r>
            <a:r>
              <a:rPr spc="104"/>
              <a:t>mostly</a:t>
            </a:r>
            <a:r>
              <a:rPr spc="50"/>
              <a:t> </a:t>
            </a:r>
            <a:r>
              <a:rPr spc="110"/>
              <a:t>performed</a:t>
            </a:r>
            <a:r>
              <a:rPr spc="45"/>
              <a:t> </a:t>
            </a:r>
            <a:r>
              <a:rPr spc="0"/>
              <a:t>after</a:t>
            </a:r>
            <a:r>
              <a:rPr spc="45"/>
              <a:t> </a:t>
            </a:r>
            <a:r>
              <a:rPr spc="120"/>
              <a:t>machine</a:t>
            </a:r>
            <a:r>
              <a:rPr spc="50"/>
              <a:t> </a:t>
            </a:r>
            <a:r>
              <a:rPr spc="75"/>
              <a:t>failures</a:t>
            </a:r>
            <a:r>
              <a:rPr spc="45"/>
              <a:t> </a:t>
            </a:r>
            <a:r>
              <a:rPr spc="100"/>
              <a:t>occur,</a:t>
            </a:r>
            <a:r>
              <a:rPr spc="45"/>
              <a:t> </a:t>
            </a:r>
            <a:r>
              <a:rPr spc="130"/>
              <a:t>causing </a:t>
            </a:r>
            <a:r>
              <a:rPr spc="65"/>
              <a:t>downtime.</a:t>
            </a:r>
          </a:p>
          <a:p>
            <a:pPr marL="310813" marR="5080" indent="-310813" algn="just">
              <a:lnSpc>
                <a:spcPct val="150000"/>
              </a:lnSpc>
              <a:buSzPct val="100000"/>
              <a:buChar char="•"/>
              <a:defRPr spc="110" sz="3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Large</a:t>
            </a:r>
            <a:r>
              <a:rPr spc="295"/>
              <a:t> </a:t>
            </a:r>
            <a:r>
              <a:rPr spc="114"/>
              <a:t>volumes</a:t>
            </a:r>
            <a:r>
              <a:rPr spc="295"/>
              <a:t> </a:t>
            </a:r>
            <a:r>
              <a:rPr spc="130"/>
              <a:t>of</a:t>
            </a:r>
            <a:r>
              <a:rPr spc="295"/>
              <a:t> </a:t>
            </a:r>
            <a:r>
              <a:rPr spc="135"/>
              <a:t>sensor</a:t>
            </a:r>
            <a:r>
              <a:rPr spc="295"/>
              <a:t> </a:t>
            </a:r>
            <a:r>
              <a:rPr spc="114"/>
              <a:t>and</a:t>
            </a:r>
            <a:r>
              <a:rPr spc="295"/>
              <a:t> </a:t>
            </a:r>
            <a:r>
              <a:rPr spc="75"/>
              <a:t>operational</a:t>
            </a:r>
            <a:r>
              <a:rPr spc="295"/>
              <a:t> </a:t>
            </a:r>
            <a:r>
              <a:rPr spc="85"/>
              <a:t>data</a:t>
            </a:r>
            <a:r>
              <a:rPr spc="295"/>
              <a:t> </a:t>
            </a:r>
            <a:r>
              <a:rPr spc="120"/>
              <a:t>cannot</a:t>
            </a:r>
            <a:r>
              <a:rPr spc="295"/>
              <a:t> </a:t>
            </a:r>
            <a:r>
              <a:rPr spc="155"/>
              <a:t>be</a:t>
            </a:r>
            <a:r>
              <a:rPr spc="295"/>
              <a:t> </a:t>
            </a:r>
            <a:r>
              <a:rPr spc="125"/>
              <a:t>analyzed</a:t>
            </a:r>
            <a:r>
              <a:rPr spc="295"/>
              <a:t> </a:t>
            </a:r>
            <a:r>
              <a:rPr spc="90"/>
              <a:t>efficiently</a:t>
            </a:r>
            <a:r>
              <a:rPr spc="295"/>
              <a:t> </a:t>
            </a:r>
            <a:r>
              <a:rPr spc="40"/>
              <a:t>for </a:t>
            </a:r>
            <a:r>
              <a:rPr spc="100"/>
              <a:t>prediction</a:t>
            </a:r>
            <a:r>
              <a:rPr spc="-114"/>
              <a:t> </a:t>
            </a:r>
            <a:r>
              <a:rPr spc="114"/>
              <a:t>and</a:t>
            </a:r>
            <a:r>
              <a:rPr spc="-110"/>
              <a:t> </a:t>
            </a:r>
            <a:r>
              <a:rPr spc="70"/>
              <a:t>optimization</a:t>
            </a:r>
          </a:p>
        </p:txBody>
      </p:sp>
      <p:sp>
        <p:nvSpPr>
          <p:cNvPr id="91" name="object 10"/>
          <p:cNvSpPr txBox="1"/>
          <p:nvPr>
            <p:ph type="title"/>
          </p:nvPr>
        </p:nvSpPr>
        <p:spPr>
          <a:xfrm>
            <a:off x="3898084" y="865776"/>
            <a:ext cx="8693469" cy="665484"/>
          </a:xfrm>
          <a:prstGeom prst="rect">
            <a:avLst/>
          </a:prstGeom>
        </p:spPr>
        <p:txBody>
          <a:bodyPr/>
          <a:lstStyle/>
          <a:p>
            <a:pPr indent="12573" defTabSz="452627">
              <a:defRPr b="1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     EXISTING</a:t>
            </a:r>
            <a:r>
              <a:rPr spc="-500"/>
              <a:t> </a:t>
            </a:r>
            <a:r>
              <a:t>SYSTEM</a:t>
            </a:r>
          </a:p>
        </p:txBody>
      </p:sp>
      <p:pic>
        <p:nvPicPr>
          <p:cNvPr id="92" name="object 11" descr="object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408" y="176980"/>
            <a:ext cx="1496290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object 12" descr="object 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23291" y="312693"/>
            <a:ext cx="1733552" cy="17716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bject 2"/>
          <p:cNvSpPr txBox="1"/>
          <p:nvPr>
            <p:ph type="title"/>
          </p:nvPr>
        </p:nvSpPr>
        <p:spPr>
          <a:xfrm>
            <a:off x="4596479" y="871222"/>
            <a:ext cx="8744489" cy="665483"/>
          </a:xfrm>
          <a:prstGeom prst="rect">
            <a:avLst/>
          </a:prstGeom>
        </p:spPr>
        <p:txBody>
          <a:bodyPr/>
          <a:lstStyle/>
          <a:p>
            <a:pPr indent="12573" defTabSz="452627">
              <a:defRPr b="1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PROPOSED </a:t>
            </a:r>
            <a:r>
              <a:rPr spc="-600"/>
              <a:t>SYSTEM</a:t>
            </a:r>
          </a:p>
        </p:txBody>
      </p:sp>
      <p:sp>
        <p:nvSpPr>
          <p:cNvPr id="96" name="object 4"/>
          <p:cNvSpPr txBox="1"/>
          <p:nvPr/>
        </p:nvSpPr>
        <p:spPr>
          <a:xfrm>
            <a:off x="1468655" y="2705474"/>
            <a:ext cx="15852144" cy="5570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00789" marR="5080" indent="-300789" algn="just">
              <a:lnSpc>
                <a:spcPct val="150000"/>
              </a:lnSpc>
              <a:buSzPct val="100000"/>
              <a:buChar char="•"/>
              <a:defRPr spc="70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Real-</a:t>
            </a:r>
            <a:r>
              <a:rPr spc="85"/>
              <a:t>time</a:t>
            </a:r>
            <a:r>
              <a:rPr spc="340"/>
              <a:t> </a:t>
            </a:r>
            <a:r>
              <a:rPr spc="95"/>
              <a:t>machine</a:t>
            </a:r>
            <a:r>
              <a:rPr spc="345"/>
              <a:t> </a:t>
            </a:r>
            <a:r>
              <a:rPr spc="80"/>
              <a:t>and</a:t>
            </a:r>
            <a:r>
              <a:rPr spc="345"/>
              <a:t> </a:t>
            </a:r>
            <a:r>
              <a:rPr spc="125"/>
              <a:t>sensor</a:t>
            </a:r>
            <a:r>
              <a:rPr spc="345"/>
              <a:t> </a:t>
            </a:r>
            <a:r>
              <a:rPr spc="65"/>
              <a:t>data</a:t>
            </a:r>
            <a:r>
              <a:rPr spc="345"/>
              <a:t> </a:t>
            </a:r>
            <a:r>
              <a:rPr spc="55"/>
              <a:t>are</a:t>
            </a:r>
            <a:r>
              <a:rPr spc="345"/>
              <a:t> </a:t>
            </a:r>
            <a:r>
              <a:rPr spc="100"/>
              <a:t>continuously</a:t>
            </a:r>
            <a:r>
              <a:rPr spc="345"/>
              <a:t> </a:t>
            </a:r>
            <a:r>
              <a:rPr spc="114"/>
              <a:t>collected</a:t>
            </a:r>
            <a:r>
              <a:rPr spc="345"/>
              <a:t> </a:t>
            </a:r>
            <a:r>
              <a:rPr spc="65"/>
              <a:t>from</a:t>
            </a:r>
            <a:r>
              <a:rPr spc="345"/>
              <a:t> </a:t>
            </a:r>
            <a:r>
              <a:rPr spc="55"/>
              <a:t>the</a:t>
            </a:r>
            <a:r>
              <a:rPr spc="340"/>
              <a:t> </a:t>
            </a:r>
            <a:r>
              <a:rPr spc="60"/>
              <a:t>manufacturing </a:t>
            </a:r>
            <a:r>
              <a:rPr spc="110"/>
              <a:t>process.</a:t>
            </a:r>
          </a:p>
          <a:p>
            <a:pPr marL="300789" marR="5080" indent="-300789" algn="just">
              <a:lnSpc>
                <a:spcPct val="150000"/>
              </a:lnSpc>
              <a:spcBef>
                <a:spcPts val="300"/>
              </a:spcBef>
              <a:buSzPct val="100000"/>
              <a:buChar char="•"/>
              <a:defRPr spc="229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</a:t>
            </a:r>
            <a:r>
              <a:rPr spc="-25"/>
              <a:t> </a:t>
            </a:r>
            <a:r>
              <a:rPr spc="0"/>
              <a:t>Digital</a:t>
            </a:r>
            <a:r>
              <a:rPr spc="-25"/>
              <a:t> </a:t>
            </a:r>
            <a:r>
              <a:rPr spc="0"/>
              <a:t>Twin</a:t>
            </a:r>
            <a:r>
              <a:rPr spc="-25"/>
              <a:t> </a:t>
            </a:r>
            <a:r>
              <a:rPr spc="95"/>
              <a:t>model</a:t>
            </a:r>
            <a:r>
              <a:rPr spc="-25"/>
              <a:t> </a:t>
            </a:r>
            <a:r>
              <a:rPr spc="104"/>
              <a:t>creates</a:t>
            </a:r>
            <a:r>
              <a:rPr spc="-25"/>
              <a:t> </a:t>
            </a:r>
            <a:r>
              <a:rPr spc="75"/>
              <a:t>a</a:t>
            </a:r>
            <a:r>
              <a:rPr spc="-20"/>
              <a:t> </a:t>
            </a:r>
            <a:r>
              <a:rPr spc="0"/>
              <a:t>virtual</a:t>
            </a:r>
            <a:r>
              <a:rPr spc="-25"/>
              <a:t> </a:t>
            </a:r>
            <a:r>
              <a:rPr spc="70"/>
              <a:t>representation</a:t>
            </a:r>
            <a:r>
              <a:rPr spc="-25"/>
              <a:t> </a:t>
            </a:r>
            <a:r>
              <a:rPr spc="125"/>
              <a:t>of</a:t>
            </a:r>
            <a:r>
              <a:rPr spc="-25"/>
              <a:t> </a:t>
            </a:r>
            <a:r>
              <a:rPr spc="110"/>
              <a:t>physical</a:t>
            </a:r>
            <a:r>
              <a:rPr spc="-25"/>
              <a:t> </a:t>
            </a:r>
            <a:r>
              <a:rPr spc="104"/>
              <a:t>machines</a:t>
            </a:r>
            <a:r>
              <a:rPr spc="-25"/>
              <a:t> </a:t>
            </a:r>
            <a:r>
              <a:rPr spc="80"/>
              <a:t>and</a:t>
            </a:r>
            <a:r>
              <a:rPr spc="-20"/>
              <a:t> </a:t>
            </a:r>
            <a:r>
              <a:rPr spc="75"/>
              <a:t>production </a:t>
            </a:r>
            <a:r>
              <a:rPr spc="85"/>
              <a:t>systems.</a:t>
            </a:r>
          </a:p>
          <a:p>
            <a:pPr marL="300789" marR="5080" indent="-300789" algn="just">
              <a:lnSpc>
                <a:spcPct val="150000"/>
              </a:lnSpc>
              <a:buSzPct val="100000"/>
              <a:buChar char="•"/>
              <a:tabLst>
                <a:tab pos="1320800" algn="l"/>
                <a:tab pos="3479800" algn="l"/>
                <a:tab pos="4038600" algn="l"/>
                <a:tab pos="5181600" algn="l"/>
                <a:tab pos="5791200" algn="l"/>
                <a:tab pos="7061200" algn="l"/>
                <a:tab pos="9588500" algn="l"/>
                <a:tab pos="10528300" algn="l"/>
                <a:tab pos="12217400" algn="l"/>
                <a:tab pos="15062200" algn="l"/>
              </a:tabLst>
              <a:defRPr spc="135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Cloud</a:t>
            </a:r>
            <a:r>
              <a:rPr spc="0"/>
              <a:t>	</a:t>
            </a:r>
            <a:r>
              <a:rPr spc="80"/>
              <a:t>computing</a:t>
            </a:r>
            <a:r>
              <a:rPr spc="0"/>
              <a:t> </a:t>
            </a:r>
            <a:r>
              <a:rPr spc="85"/>
              <a:t>is</a:t>
            </a:r>
            <a:r>
              <a:rPr spc="0"/>
              <a:t>	</a:t>
            </a:r>
            <a:r>
              <a:rPr spc="120"/>
              <a:t>used</a:t>
            </a:r>
            <a:r>
              <a:rPr spc="0"/>
              <a:t> </a:t>
            </a:r>
            <a:r>
              <a:rPr spc="-25"/>
              <a:t>to</a:t>
            </a:r>
            <a:r>
              <a:rPr spc="0"/>
              <a:t> </a:t>
            </a:r>
            <a:r>
              <a:rPr spc="-10"/>
              <a:t>store,</a:t>
            </a:r>
            <a:r>
              <a:rPr spc="0"/>
              <a:t> </a:t>
            </a:r>
            <a:r>
              <a:rPr spc="85"/>
              <a:t>synchronize,</a:t>
            </a:r>
            <a:r>
              <a:rPr spc="0"/>
              <a:t> </a:t>
            </a:r>
            <a:r>
              <a:rPr spc="65"/>
              <a:t>and</a:t>
            </a:r>
            <a:r>
              <a:rPr spc="0"/>
              <a:t> </a:t>
            </a:r>
            <a:r>
              <a:rPr spc="75"/>
              <a:t>manage</a:t>
            </a:r>
            <a:r>
              <a:rPr spc="0"/>
              <a:t> </a:t>
            </a:r>
            <a:r>
              <a:rPr spc="60"/>
              <a:t>manufacturing</a:t>
            </a:r>
            <a:r>
              <a:rPr spc="0"/>
              <a:t> </a:t>
            </a:r>
            <a:r>
              <a:rPr spc="45"/>
              <a:t>data </a:t>
            </a:r>
            <a:r>
              <a:rPr spc="40"/>
              <a:t>efficiently.</a:t>
            </a:r>
          </a:p>
          <a:p>
            <a:pPr marL="300789" marR="5080" indent="-300789" algn="just">
              <a:lnSpc>
                <a:spcPct val="150000"/>
              </a:lnSpc>
              <a:buSzPct val="100000"/>
              <a:buChar char="•"/>
              <a:defRPr spc="104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Big</a:t>
            </a:r>
            <a:r>
              <a:rPr spc="215"/>
              <a:t> </a:t>
            </a:r>
            <a:r>
              <a:rPr spc="55"/>
              <a:t>Data</a:t>
            </a:r>
            <a:r>
              <a:rPr spc="220"/>
              <a:t> </a:t>
            </a:r>
            <a:r>
              <a:rPr spc="120"/>
              <a:t>Analytics</a:t>
            </a:r>
            <a:r>
              <a:rPr spc="220"/>
              <a:t> </a:t>
            </a:r>
            <a:r>
              <a:rPr spc="155"/>
              <a:t>processes</a:t>
            </a:r>
            <a:r>
              <a:rPr spc="215"/>
              <a:t> </a:t>
            </a:r>
            <a:r>
              <a:rPr spc="114"/>
              <a:t>large-</a:t>
            </a:r>
            <a:r>
              <a:rPr spc="130"/>
              <a:t>scale</a:t>
            </a:r>
            <a:r>
              <a:rPr spc="220"/>
              <a:t> </a:t>
            </a:r>
            <a:r>
              <a:rPr spc="125"/>
              <a:t>sensor</a:t>
            </a:r>
            <a:r>
              <a:rPr spc="220"/>
              <a:t> </a:t>
            </a:r>
            <a:r>
              <a:rPr spc="65"/>
              <a:t>data</a:t>
            </a:r>
            <a:r>
              <a:rPr spc="220"/>
              <a:t> </a:t>
            </a:r>
            <a:r>
              <a:rPr spc="0"/>
              <a:t>to</a:t>
            </a:r>
            <a:r>
              <a:rPr spc="215"/>
              <a:t> </a:t>
            </a:r>
            <a:r>
              <a:rPr spc="70"/>
              <a:t>identify</a:t>
            </a:r>
            <a:r>
              <a:rPr spc="220"/>
              <a:t> </a:t>
            </a:r>
            <a:r>
              <a:rPr spc="50"/>
              <a:t>trends,</a:t>
            </a:r>
            <a:r>
              <a:rPr spc="220"/>
              <a:t> </a:t>
            </a:r>
            <a:r>
              <a:rPr spc="70"/>
              <a:t>anomalies,</a:t>
            </a:r>
            <a:r>
              <a:rPr spc="215"/>
              <a:t> </a:t>
            </a:r>
            <a:r>
              <a:rPr spc="55"/>
              <a:t>and </a:t>
            </a:r>
            <a:r>
              <a:t>performance</a:t>
            </a:r>
            <a:r>
              <a:rPr spc="-104"/>
              <a:t> </a:t>
            </a:r>
            <a:r>
              <a:rPr spc="90"/>
              <a:t>issues.</a:t>
            </a:r>
          </a:p>
          <a:p>
            <a:pPr marL="300789" marR="5080" indent="-300789" algn="just">
              <a:lnSpc>
                <a:spcPct val="150000"/>
              </a:lnSpc>
              <a:buSzPct val="100000"/>
              <a:buChar char="•"/>
              <a:tabLst>
                <a:tab pos="685800" algn="l"/>
                <a:tab pos="2501900" algn="l"/>
                <a:tab pos="4635500" algn="l"/>
                <a:tab pos="6350000" algn="l"/>
                <a:tab pos="8140700" algn="l"/>
                <a:tab pos="10337800" algn="l"/>
                <a:tab pos="12280900" algn="l"/>
                <a:tab pos="14744700" algn="l"/>
              </a:tabLst>
              <a:defRPr spc="130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</a:t>
            </a:r>
            <a:r>
              <a:rPr spc="0"/>
              <a:t> </a:t>
            </a:r>
            <a:r>
              <a:rPr spc="110"/>
              <a:t>Analytics</a:t>
            </a:r>
            <a:r>
              <a:rPr spc="0"/>
              <a:t>	</a:t>
            </a:r>
            <a:r>
              <a:rPr spc="85"/>
              <a:t>Dashboard</a:t>
            </a:r>
            <a:r>
              <a:rPr spc="0"/>
              <a:t>	</a:t>
            </a:r>
            <a:r>
              <a:rPr spc="85"/>
              <a:t>provides</a:t>
            </a:r>
            <a:r>
              <a:rPr spc="0"/>
              <a:t>	</a:t>
            </a:r>
            <a:r>
              <a:rPr spc="65"/>
              <a:t>real-time</a:t>
            </a:r>
            <a:r>
              <a:rPr spc="0"/>
              <a:t>	</a:t>
            </a:r>
            <a:r>
              <a:rPr spc="-10"/>
              <a:t>monitoring,</a:t>
            </a:r>
            <a:r>
              <a:rPr spc="0"/>
              <a:t>	</a:t>
            </a:r>
            <a:r>
              <a:rPr spc="70"/>
              <a:t>predictive</a:t>
            </a:r>
            <a:r>
              <a:rPr spc="0"/>
              <a:t>	</a:t>
            </a:r>
            <a:r>
              <a:rPr spc="65"/>
              <a:t>maintenance</a:t>
            </a:r>
            <a:r>
              <a:rPr spc="0"/>
              <a:t>	</a:t>
            </a:r>
            <a:r>
              <a:rPr spc="-10"/>
              <a:t>alerts, </a:t>
            </a:r>
            <a:r>
              <a:rPr spc="80"/>
              <a:t>and</a:t>
            </a:r>
            <a:r>
              <a:rPr spc="-95"/>
              <a:t> </a:t>
            </a:r>
            <a:r>
              <a:rPr spc="85"/>
              <a:t>production</a:t>
            </a:r>
            <a:r>
              <a:rPr spc="-95"/>
              <a:t> </a:t>
            </a:r>
            <a:r>
              <a:rPr spc="65"/>
              <a:t>optimization</a:t>
            </a:r>
            <a:r>
              <a:rPr spc="-95"/>
              <a:t> </a:t>
            </a:r>
            <a:r>
              <a:rPr spc="45"/>
              <a:t>insights.</a:t>
            </a:r>
          </a:p>
        </p:txBody>
      </p:sp>
      <p:pic>
        <p:nvPicPr>
          <p:cNvPr id="97" name="object 9" descr="object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8700" y="177943"/>
            <a:ext cx="1385454" cy="1771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object 10" descr="object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23291" y="176980"/>
            <a:ext cx="1733552" cy="17716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LGORITHM USED"/>
          <p:cNvSpPr txBox="1"/>
          <p:nvPr/>
        </p:nvSpPr>
        <p:spPr>
          <a:xfrm>
            <a:off x="6297748" y="597601"/>
            <a:ext cx="5692497" cy="751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b="1" sz="4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ALGORITHM USED</a:t>
            </a:r>
          </a:p>
        </p:txBody>
      </p:sp>
      <p:pic>
        <p:nvPicPr>
          <p:cNvPr id="101" name="object 9" descr="object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8700" y="177943"/>
            <a:ext cx="1385454" cy="1771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object 10" descr="object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23291" y="176980"/>
            <a:ext cx="1733552" cy="1771651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ALGORITHM USED – RANDOM FOREST…"/>
          <p:cNvSpPr txBox="1"/>
          <p:nvPr/>
        </p:nvSpPr>
        <p:spPr>
          <a:xfrm>
            <a:off x="1587390" y="2562282"/>
            <a:ext cx="14762355" cy="6040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457200">
              <a:lnSpc>
                <a:spcPct val="120000"/>
              </a:lnSpc>
              <a:spcBef>
                <a:spcPts val="1400"/>
              </a:spcBef>
              <a:defRPr b="1" sz="2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ALGORITHM USED – RANDOM FOREST</a:t>
            </a:r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b="1" sz="2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Random Forest</a:t>
            </a:r>
            <a:r>
              <a:rPr b="0"/>
              <a:t> is an ensemble Machine Learning algorithm based on multiple decision trees.</a:t>
            </a:r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sz="2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uses different subsets of </a:t>
            </a:r>
            <a:r>
              <a:rPr b="1"/>
              <a:t>data and features</a:t>
            </a:r>
            <a:r>
              <a:t> to build several decision trees.</a:t>
            </a:r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sz="2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is used in our system for </a:t>
            </a:r>
            <a:r>
              <a:rPr b="1"/>
              <a:t>fault prediction and machine performance forecasting</a:t>
            </a:r>
            <a:r>
              <a:t>.</a:t>
            </a:r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sz="2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can handle </a:t>
            </a:r>
            <a:r>
              <a:rPr b="1"/>
              <a:t>large manufacturing datasets</a:t>
            </a:r>
            <a:r>
              <a:t> with multiple machine parameters.</a:t>
            </a:r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sz="2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Provides good </a:t>
            </a:r>
            <a:r>
              <a:rPr b="1"/>
              <a:t>accuracy, robustness, and reliability</a:t>
            </a:r>
            <a:r>
              <a:t> for predictive analysis.</a:t>
            </a:r>
            <a:endParaRPr b="1"/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sz="2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predictions can be used to reduce </a:t>
            </a:r>
            <a:r>
              <a:rPr b="1"/>
              <a:t>unexpected downtime and maintenance costs</a:t>
            </a:r>
            <a:r>
              <a:t>.</a:t>
            </a:r>
          </a:p>
          <a:p>
            <a:pPr defTabSz="457200">
              <a:lnSpc>
                <a:spcPct val="120000"/>
              </a:lnSpc>
              <a:spcBef>
                <a:spcPts val="1400"/>
              </a:spcBef>
              <a:defRPr b="1" sz="2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Technologies Used </a:t>
            </a:r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b="1" sz="2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Firebase Cloud:</a:t>
            </a:r>
            <a:r>
              <a:rPr b="0"/>
              <a:t> Real-time data storage, synchronization, and cloud-based machine data management.</a:t>
            </a:r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b="1" sz="2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Random Forest:</a:t>
            </a:r>
            <a:r>
              <a:rPr b="0"/>
              <a:t> Predictive analytics, fault detection, and machine performance prediction.</a:t>
            </a:r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b="1" sz="2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IoT Sensors:</a:t>
            </a:r>
            <a:r>
              <a:rPr b="0"/>
              <a:t> Collection of temperature, vibration, pressure, speed, energy, and machine-status data.</a:t>
            </a:r>
          </a:p>
          <a:p>
            <a:pPr marL="457200" indent="-317500" defTabSz="457200">
              <a:lnSpc>
                <a:spcPct val="120000"/>
              </a:lnSpc>
              <a:buSzPct val="100000"/>
              <a:buFont typeface="Times Roman"/>
              <a:buChar char="•"/>
              <a:defRPr b="1" sz="2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Digital Twin:</a:t>
            </a:r>
            <a:r>
              <a:rPr b="0"/>
              <a:t> Real-time virtual representation and synchronization of the physical manufacturing machine.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METHODOLOGY"/>
          <p:cNvSpPr txBox="1"/>
          <p:nvPr/>
        </p:nvSpPr>
        <p:spPr>
          <a:xfrm>
            <a:off x="6958761" y="207769"/>
            <a:ext cx="5045466" cy="751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b="1" sz="4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METHODOLOGY</a:t>
            </a:r>
          </a:p>
        </p:txBody>
      </p:sp>
      <p:pic>
        <p:nvPicPr>
          <p:cNvPr id="106" name="object 9" descr="object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8700" y="177943"/>
            <a:ext cx="1385454" cy="1771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object 10" descr="object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23291" y="176980"/>
            <a:ext cx="1733552" cy="1771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58582" y="1352341"/>
            <a:ext cx="12770836" cy="85138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object 2" descr="object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408" y="176980"/>
            <a:ext cx="1219201" cy="1552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object 3" descr="object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23291" y="176980"/>
            <a:ext cx="1524002" cy="1552576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object 5"/>
          <p:cNvSpPr txBox="1"/>
          <p:nvPr>
            <p:ph type="title"/>
          </p:nvPr>
        </p:nvSpPr>
        <p:spPr>
          <a:xfrm>
            <a:off x="7284670" y="748983"/>
            <a:ext cx="3718660" cy="843466"/>
          </a:xfrm>
          <a:prstGeom prst="rect">
            <a:avLst/>
          </a:prstGeom>
        </p:spPr>
        <p:txBody>
          <a:bodyPr/>
          <a:lstStyle/>
          <a:p>
            <a:pPr indent="12700" defTabSz="457200">
              <a:defRPr b="1" sz="4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MODULE</a:t>
            </a:r>
            <a:r>
              <a:rPr spc="-500"/>
              <a:t> </a:t>
            </a:r>
            <a:r>
              <a:rPr spc="-799"/>
              <a:t>1</a:t>
            </a:r>
          </a:p>
        </p:txBody>
      </p:sp>
      <p:sp>
        <p:nvSpPr>
          <p:cNvPr id="113" name="object 11"/>
          <p:cNvSpPr txBox="1"/>
          <p:nvPr/>
        </p:nvSpPr>
        <p:spPr>
          <a:xfrm>
            <a:off x="1281320" y="3406735"/>
            <a:ext cx="16880348" cy="297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00789" indent="-300789" algn="just" defTabSz="457200">
              <a:lnSpc>
                <a:spcPct val="150000"/>
              </a:lnSpc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Collects</a:t>
            </a:r>
            <a:r>
              <a:rPr spc="107"/>
              <a:t> </a:t>
            </a:r>
            <a:r>
              <a:rPr spc="-75"/>
              <a:t>real-</a:t>
            </a:r>
            <a:r>
              <a:t>time</a:t>
            </a:r>
            <a:r>
              <a:rPr spc="107"/>
              <a:t> </a:t>
            </a:r>
            <a:r>
              <a:t>data</a:t>
            </a:r>
            <a:r>
              <a:rPr spc="112"/>
              <a:t> </a:t>
            </a:r>
            <a:r>
              <a:t>from</a:t>
            </a:r>
            <a:r>
              <a:rPr spc="107"/>
              <a:t> </a:t>
            </a:r>
            <a:r>
              <a:rPr spc="-32"/>
              <a:t>manufacturing</a:t>
            </a:r>
            <a:r>
              <a:rPr spc="107"/>
              <a:t> </a:t>
            </a:r>
            <a:r>
              <a:rPr spc="-26"/>
              <a:t>machines </a:t>
            </a:r>
            <a:r>
              <a:rPr spc="-64"/>
              <a:t>and</a:t>
            </a:r>
            <a:r>
              <a:rPr spc="-300"/>
              <a:t> </a:t>
            </a:r>
            <a:r>
              <a:rPr spc="-155"/>
              <a:t>IoT</a:t>
            </a:r>
            <a:r>
              <a:rPr spc="-300"/>
              <a:t> </a:t>
            </a:r>
            <a:r>
              <a:rPr spc="-10"/>
              <a:t>sensors.</a:t>
            </a:r>
          </a:p>
          <a:p>
            <a:pPr marL="300789" indent="-300789" algn="just" defTabSz="457200">
              <a:lnSpc>
                <a:spcPct val="150000"/>
              </a:lnSpc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Captures	temperature, vibration, machine	</a:t>
            </a:r>
            <a:r>
              <a:rPr spc="-75"/>
              <a:t>speed, </a:t>
            </a:r>
            <a:r>
              <a:rPr spc="-42"/>
              <a:t>power</a:t>
            </a:r>
            <a:r>
              <a:rPr spc="-262"/>
              <a:t> </a:t>
            </a:r>
            <a:r>
              <a:rPr spc="-58"/>
              <a:t>consumption,</a:t>
            </a:r>
            <a:r>
              <a:rPr spc="-262"/>
              <a:t> </a:t>
            </a:r>
            <a:r>
              <a:rPr spc="-64"/>
              <a:t>and</a:t>
            </a:r>
            <a:r>
              <a:rPr spc="-257"/>
              <a:t> </a:t>
            </a:r>
            <a:r>
              <a:t>production</a:t>
            </a:r>
            <a:r>
              <a:rPr spc="-262"/>
              <a:t> </a:t>
            </a:r>
            <a:r>
              <a:t>information.</a:t>
            </a:r>
          </a:p>
          <a:p>
            <a:pPr marL="300789" indent="-300789" algn="just" defTabSz="457200">
              <a:lnSpc>
                <a:spcPct val="150000"/>
              </a:lnSpc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Monitors	machine	health </a:t>
            </a:r>
            <a:r>
              <a:rPr spc="-26"/>
              <a:t>and </a:t>
            </a:r>
            <a:r>
              <a:t>process conditions continuously.</a:t>
            </a:r>
          </a:p>
          <a:p>
            <a:pPr marL="300789" indent="-300789" algn="just" defTabSz="457200">
              <a:lnSpc>
                <a:spcPct val="150000"/>
              </a:lnSpc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Improves	</a:t>
            </a:r>
            <a:r>
              <a:rPr spc="-21"/>
              <a:t>data</a:t>
            </a:r>
            <a:r>
              <a:t>	accuracy	through	automated	</a:t>
            </a:r>
            <a:r>
              <a:rPr spc="-85"/>
              <a:t>sensor-</a:t>
            </a:r>
            <a:r>
              <a:rPr spc="-42"/>
              <a:t>based</a:t>
            </a:r>
            <a:r>
              <a:rPr spc="-289"/>
              <a:t> </a:t>
            </a:r>
            <a:r>
              <a:rPr spc="-64"/>
              <a:t>data</a:t>
            </a:r>
            <a:r>
              <a:rPr spc="-283"/>
              <a:t> </a:t>
            </a:r>
            <a:r>
              <a:t>collection.</a:t>
            </a:r>
          </a:p>
          <a:p>
            <a:pPr marL="300789" indent="-300789" algn="just" defTabSz="457200">
              <a:lnSpc>
                <a:spcPct val="150000"/>
              </a:lnSpc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Provides</a:t>
            </a:r>
            <a:r>
              <a:rPr spc="-144"/>
              <a:t> </a:t>
            </a:r>
            <a:r>
              <a:rPr spc="-21"/>
              <a:t>reliable</a:t>
            </a:r>
            <a:r>
              <a:rPr spc="-139"/>
              <a:t> </a:t>
            </a:r>
            <a:r>
              <a:rPr spc="-47"/>
              <a:t>data</a:t>
            </a:r>
            <a:r>
              <a:rPr spc="-144"/>
              <a:t> </a:t>
            </a:r>
            <a:r>
              <a:t>for</a:t>
            </a:r>
            <a:r>
              <a:rPr spc="-139"/>
              <a:t> </a:t>
            </a:r>
            <a:r>
              <a:t>cloud</a:t>
            </a:r>
            <a:r>
              <a:rPr spc="-139"/>
              <a:t> </a:t>
            </a:r>
            <a:r>
              <a:rPr spc="-75"/>
              <a:t>processing,</a:t>
            </a:r>
            <a:r>
              <a:rPr spc="-144"/>
              <a:t> </a:t>
            </a:r>
            <a:r>
              <a:rPr spc="-32"/>
              <a:t>digital</a:t>
            </a:r>
            <a:r>
              <a:rPr spc="-139"/>
              <a:t> </a:t>
            </a:r>
            <a:r>
              <a:rPr spc="-21"/>
              <a:t>twin </a:t>
            </a:r>
            <a:r>
              <a:rPr spc="-91"/>
              <a:t>modeling,</a:t>
            </a:r>
            <a:r>
              <a:rPr spc="-262"/>
              <a:t> </a:t>
            </a:r>
            <a:r>
              <a:rPr spc="-75"/>
              <a:t>analytics,</a:t>
            </a:r>
            <a:r>
              <a:rPr spc="-257"/>
              <a:t> </a:t>
            </a:r>
            <a:r>
              <a:rPr spc="-64"/>
              <a:t>and</a:t>
            </a:r>
            <a:r>
              <a:rPr spc="-262"/>
              <a:t> </a:t>
            </a:r>
            <a:r>
              <a:rPr spc="-21"/>
              <a:t>predictive</a:t>
            </a:r>
            <a:r>
              <a:rPr spc="-257"/>
              <a:t> </a:t>
            </a:r>
            <a:r>
              <a:rPr spc="-10"/>
              <a:t>maintenance.</a:t>
            </a:r>
          </a:p>
        </p:txBody>
      </p:sp>
      <p:sp>
        <p:nvSpPr>
          <p:cNvPr id="114" name="INTELLIGENT SENSOR DATA  ACQUISITION"/>
          <p:cNvSpPr txBox="1"/>
          <p:nvPr/>
        </p:nvSpPr>
        <p:spPr>
          <a:xfrm>
            <a:off x="3061245" y="1797025"/>
            <a:ext cx="13320499" cy="605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12700" defTabSz="457200"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INTELLIGENT</a:t>
            </a:r>
            <a:r>
              <a:rPr spc="-334"/>
              <a:t> SENSOR</a:t>
            </a:r>
            <a:r>
              <a:t> </a:t>
            </a:r>
            <a:r>
              <a:rPr spc="-416"/>
              <a:t>DATA</a:t>
            </a:r>
            <a:r>
              <a:rPr spc="-334"/>
              <a:t>  </a:t>
            </a:r>
            <a:r>
              <a:rPr spc="-293"/>
              <a:t>ACQUISITION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object 2" descr="object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408" y="176980"/>
            <a:ext cx="1173020" cy="148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object 3" descr="object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965743" y="176980"/>
            <a:ext cx="1457327" cy="1485901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object 5"/>
          <p:cNvSpPr txBox="1"/>
          <p:nvPr>
            <p:ph type="title"/>
          </p:nvPr>
        </p:nvSpPr>
        <p:spPr>
          <a:xfrm>
            <a:off x="7190512" y="817424"/>
            <a:ext cx="3352148" cy="665483"/>
          </a:xfrm>
          <a:prstGeom prst="rect">
            <a:avLst/>
          </a:prstGeom>
        </p:spPr>
        <p:txBody>
          <a:bodyPr/>
          <a:lstStyle/>
          <a:p>
            <a:pPr indent="12319" defTabSz="443483">
              <a:defRPr b="1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MODULE</a:t>
            </a:r>
            <a:r>
              <a:rPr spc="-500"/>
              <a:t> </a:t>
            </a:r>
            <a:r>
              <a:rPr spc="-699"/>
              <a:t>2</a:t>
            </a:r>
          </a:p>
        </p:txBody>
      </p:sp>
      <p:sp>
        <p:nvSpPr>
          <p:cNvPr id="119" name="object 11"/>
          <p:cNvSpPr txBox="1"/>
          <p:nvPr/>
        </p:nvSpPr>
        <p:spPr>
          <a:xfrm>
            <a:off x="1591616" y="1673287"/>
            <a:ext cx="17485724" cy="5046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 algn="just">
              <a:lnSpc>
                <a:spcPct val="150000"/>
              </a:lnSpc>
              <a:spcBef>
                <a:spcPts val="100"/>
              </a:spcBef>
              <a:defRPr spc="-185" sz="3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</a:t>
            </a:r>
          </a:p>
          <a:p>
            <a:pPr algn="just">
              <a:lnSpc>
                <a:spcPct val="150000"/>
              </a:lnSpc>
              <a:spcBef>
                <a:spcPts val="800"/>
              </a:spcBef>
              <a:defRPr sz="35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80734" marR="4403090" indent="-280734" algn="just">
              <a:lnSpc>
                <a:spcPct val="150000"/>
              </a:lnSpc>
              <a:buSzPct val="100000"/>
              <a:buChar char="•"/>
              <a:defRPr spc="100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Creates</a:t>
            </a:r>
            <a:r>
              <a:rPr spc="-60"/>
              <a:t> </a:t>
            </a:r>
            <a:r>
              <a:rPr spc="55"/>
              <a:t>a</a:t>
            </a:r>
            <a:r>
              <a:rPr spc="-55"/>
              <a:t> </a:t>
            </a:r>
            <a:r>
              <a:rPr spc="0"/>
              <a:t>virtual</a:t>
            </a:r>
            <a:r>
              <a:rPr spc="-55"/>
              <a:t> </a:t>
            </a:r>
            <a:r>
              <a:rPr spc="75"/>
              <a:t>replica</a:t>
            </a:r>
            <a:r>
              <a:rPr spc="-55"/>
              <a:t> </a:t>
            </a:r>
            <a:r>
              <a:t>of</a:t>
            </a:r>
            <a:r>
              <a:rPr spc="-55"/>
              <a:t> </a:t>
            </a:r>
            <a:r>
              <a:rPr spc="60"/>
              <a:t>manufacturing</a:t>
            </a:r>
            <a:r>
              <a:rPr spc="-55"/>
              <a:t> </a:t>
            </a:r>
            <a:r>
              <a:t>machines</a:t>
            </a:r>
            <a:r>
              <a:rPr spc="-55"/>
              <a:t> </a:t>
            </a:r>
            <a:r>
              <a:rPr spc="50"/>
              <a:t>and </a:t>
            </a:r>
            <a:r>
              <a:rPr spc="70"/>
              <a:t>production</a:t>
            </a:r>
            <a:r>
              <a:rPr spc="-65"/>
              <a:t> </a:t>
            </a:r>
            <a:r>
              <a:t>processes.</a:t>
            </a:r>
          </a:p>
          <a:p>
            <a:pPr marL="280734" marR="4481195" indent="-280734" algn="just">
              <a:lnSpc>
                <a:spcPct val="150000"/>
              </a:lnSpc>
              <a:spcBef>
                <a:spcPts val="300"/>
              </a:spcBef>
              <a:buSzPct val="100000"/>
              <a:buChar char="•"/>
              <a:defRPr spc="110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Synchronizes</a:t>
            </a:r>
            <a:r>
              <a:rPr spc="5"/>
              <a:t> </a:t>
            </a:r>
            <a:r>
              <a:rPr spc="80"/>
              <a:t>real-</a:t>
            </a:r>
            <a:r>
              <a:rPr spc="0"/>
              <a:t>time</a:t>
            </a:r>
            <a:r>
              <a:rPr spc="5"/>
              <a:t> </a:t>
            </a:r>
            <a:r>
              <a:rPr spc="104"/>
              <a:t>sensor</a:t>
            </a:r>
            <a:r>
              <a:rPr spc="5"/>
              <a:t> </a:t>
            </a:r>
            <a:r>
              <a:rPr spc="50"/>
              <a:t>data</a:t>
            </a:r>
            <a:r>
              <a:rPr spc="10"/>
              <a:t> </a:t>
            </a:r>
            <a:r>
              <a:rPr spc="0"/>
              <a:t>with</a:t>
            </a:r>
            <a:r>
              <a:rPr spc="5"/>
              <a:t> </a:t>
            </a:r>
            <a:r>
              <a:rPr spc="0"/>
              <a:t>the</a:t>
            </a:r>
            <a:r>
              <a:rPr spc="5"/>
              <a:t> </a:t>
            </a:r>
            <a:r>
              <a:rPr spc="0"/>
              <a:t>digital</a:t>
            </a:r>
            <a:r>
              <a:rPr spc="10"/>
              <a:t> </a:t>
            </a:r>
            <a:r>
              <a:rPr spc="35"/>
              <a:t>twin </a:t>
            </a:r>
            <a:r>
              <a:rPr spc="45"/>
              <a:t>continuously.</a:t>
            </a:r>
          </a:p>
          <a:p>
            <a:pPr marL="280734" marR="4523104" indent="-280734" algn="just">
              <a:lnSpc>
                <a:spcPct val="150000"/>
              </a:lnSpc>
              <a:buSzPct val="100000"/>
              <a:buChar char="•"/>
              <a:defRPr spc="65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Simulates</a:t>
            </a:r>
            <a:r>
              <a:rPr spc="-90"/>
              <a:t> </a:t>
            </a:r>
            <a:r>
              <a:rPr spc="85"/>
              <a:t>machine</a:t>
            </a:r>
            <a:r>
              <a:rPr spc="-85"/>
              <a:t> </a:t>
            </a:r>
            <a:r>
              <a:t>behavior</a:t>
            </a:r>
            <a:r>
              <a:rPr spc="-85"/>
              <a:t> </a:t>
            </a:r>
            <a:r>
              <a:rPr spc="75"/>
              <a:t>and</a:t>
            </a:r>
            <a:r>
              <a:rPr spc="-85"/>
              <a:t> </a:t>
            </a:r>
            <a:r>
              <a:rPr spc="50"/>
              <a:t>operational</a:t>
            </a:r>
            <a:r>
              <a:rPr spc="-85"/>
              <a:t> </a:t>
            </a:r>
            <a:r>
              <a:rPr spc="75"/>
              <a:t>conditions </a:t>
            </a:r>
            <a:r>
              <a:rPr spc="0"/>
              <a:t>for</a:t>
            </a:r>
            <a:r>
              <a:t> </a:t>
            </a:r>
            <a:r>
              <a:rPr spc="0"/>
              <a:t>better</a:t>
            </a:r>
            <a:r>
              <a:t> </a:t>
            </a:r>
            <a:r>
              <a:rPr spc="55"/>
              <a:t>analysis.</a:t>
            </a:r>
          </a:p>
          <a:p>
            <a:pPr marL="280734" marR="5367654" indent="-280734" algn="just">
              <a:lnSpc>
                <a:spcPct val="150000"/>
              </a:lnSpc>
              <a:buSzPct val="100000"/>
              <a:buChar char="•"/>
              <a:defRPr spc="85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Tracks</a:t>
            </a:r>
            <a:r>
              <a:rPr spc="-94"/>
              <a:t> </a:t>
            </a:r>
            <a:r>
              <a:t>machine</a:t>
            </a:r>
            <a:r>
              <a:rPr spc="-94"/>
              <a:t> </a:t>
            </a:r>
            <a:r>
              <a:rPr spc="75"/>
              <a:t>performance,</a:t>
            </a:r>
            <a:r>
              <a:rPr spc="-94"/>
              <a:t> </a:t>
            </a:r>
            <a:r>
              <a:rPr spc="45"/>
              <a:t>status,</a:t>
            </a:r>
            <a:r>
              <a:rPr spc="-90"/>
              <a:t> </a:t>
            </a:r>
            <a:r>
              <a:rPr spc="75"/>
              <a:t>and</a:t>
            </a:r>
            <a:r>
              <a:rPr spc="-94"/>
              <a:t> </a:t>
            </a:r>
            <a:r>
              <a:rPr spc="120"/>
              <a:t>process changes</a:t>
            </a:r>
            <a:r>
              <a:rPr spc="-30"/>
              <a:t> </a:t>
            </a:r>
            <a:r>
              <a:rPr spc="0"/>
              <a:t>in</a:t>
            </a:r>
            <a:r>
              <a:rPr spc="-30"/>
              <a:t> </a:t>
            </a:r>
            <a:r>
              <a:rPr spc="0"/>
              <a:t>real</a:t>
            </a:r>
            <a:r>
              <a:rPr spc="-30"/>
              <a:t> </a:t>
            </a:r>
            <a:r>
              <a:rPr spc="-10"/>
              <a:t>time.</a:t>
            </a:r>
          </a:p>
          <a:p>
            <a:pPr marL="280734" marR="4097020" indent="-280734" algn="just">
              <a:lnSpc>
                <a:spcPct val="150000"/>
              </a:lnSpc>
              <a:buSzPct val="100000"/>
              <a:buChar char="•"/>
              <a:defRPr spc="90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Supports </a:t>
            </a:r>
            <a:r>
              <a:rPr spc="130"/>
              <a:t>process</a:t>
            </a:r>
            <a:r>
              <a:rPr spc="94"/>
              <a:t> </a:t>
            </a:r>
            <a:r>
              <a:rPr spc="0"/>
              <a:t>optimization,</a:t>
            </a:r>
            <a:r>
              <a:rPr spc="94"/>
              <a:t> </a:t>
            </a:r>
            <a:r>
              <a:rPr spc="0"/>
              <a:t>monitoring,</a:t>
            </a:r>
            <a:r>
              <a:rPr spc="94"/>
              <a:t> </a:t>
            </a:r>
            <a:r>
              <a:rPr spc="75"/>
              <a:t>and</a:t>
            </a:r>
            <a:r>
              <a:rPr spc="94"/>
              <a:t> </a:t>
            </a:r>
            <a:r>
              <a:rPr spc="60"/>
              <a:t>predictive </a:t>
            </a:r>
            <a:r>
              <a:rPr spc="70"/>
              <a:t>maintenance</a:t>
            </a:r>
            <a:r>
              <a:rPr spc="-104"/>
              <a:t> </a:t>
            </a:r>
            <a:r>
              <a:rPr spc="85"/>
              <a:t>using</a:t>
            </a:r>
            <a:r>
              <a:rPr spc="-100"/>
              <a:t> </a:t>
            </a:r>
            <a:r>
              <a:rPr spc="110"/>
              <a:t>cloud</a:t>
            </a:r>
            <a:r>
              <a:rPr spc="-104"/>
              <a:t> </a:t>
            </a:r>
            <a:r>
              <a:rPr spc="-10"/>
              <a:t>integration.</a:t>
            </a:r>
          </a:p>
        </p:txBody>
      </p:sp>
      <p:sp>
        <p:nvSpPr>
          <p:cNvPr id="120" name="CLOUD-INTEGRATED DIGITAL TWIN  SYNCHRONIZATION"/>
          <p:cNvSpPr txBox="1"/>
          <p:nvPr/>
        </p:nvSpPr>
        <p:spPr>
          <a:xfrm>
            <a:off x="3271810" y="2157384"/>
            <a:ext cx="11407388" cy="580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indent="12700" defTabSz="457200">
              <a:defRPr b="1" sz="3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CLOUD-</a:t>
            </a:r>
            <a:r>
              <a:rPr spc="-345"/>
              <a:t>INTEGRATED</a:t>
            </a:r>
            <a:r>
              <a:rPr spc="-320"/>
              <a:t> </a:t>
            </a:r>
            <a:r>
              <a:rPr spc="-310"/>
              <a:t>DIGITAL</a:t>
            </a:r>
            <a:r>
              <a:rPr spc="-320"/>
              <a:t> </a:t>
            </a:r>
            <a:r>
              <a:rPr spc="-280"/>
              <a:t>TWIN</a:t>
            </a:r>
            <a:r>
              <a:rPr spc="-320"/>
              <a:t>  </a:t>
            </a:r>
            <a:r>
              <a:rPr spc="-315"/>
              <a:t>SYNCHRONIZATION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object 2" descr="object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4998" y="331838"/>
            <a:ext cx="1265384" cy="16192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object 3" descr="object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23291" y="176980"/>
            <a:ext cx="1495427" cy="1533526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object 5"/>
          <p:cNvSpPr txBox="1"/>
          <p:nvPr>
            <p:ph type="title"/>
          </p:nvPr>
        </p:nvSpPr>
        <p:spPr>
          <a:xfrm>
            <a:off x="5827671" y="936240"/>
            <a:ext cx="5837269" cy="665483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      MODULE</a:t>
            </a:r>
            <a:r>
              <a:rPr spc="-400"/>
              <a:t> 3</a:t>
            </a:r>
          </a:p>
        </p:txBody>
      </p:sp>
      <p:sp>
        <p:nvSpPr>
          <p:cNvPr id="125" name="object 11"/>
          <p:cNvSpPr txBox="1"/>
          <p:nvPr/>
        </p:nvSpPr>
        <p:spPr>
          <a:xfrm>
            <a:off x="1229838" y="3495213"/>
            <a:ext cx="19048242" cy="2799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80734" marR="3032125" indent="-280734" algn="just">
              <a:lnSpc>
                <a:spcPct val="150000"/>
              </a:lnSpc>
              <a:spcBef>
                <a:spcPts val="4900"/>
              </a:spcBef>
              <a:buSzPct val="100000"/>
              <a:buChar char="•"/>
              <a:defRPr spc="145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Processes</a:t>
            </a:r>
            <a:r>
              <a:rPr spc="40"/>
              <a:t> </a:t>
            </a:r>
            <a:r>
              <a:rPr spc="80"/>
              <a:t>large-</a:t>
            </a:r>
            <a:r>
              <a:rPr spc="130"/>
              <a:t>scale</a:t>
            </a:r>
            <a:r>
              <a:rPr spc="40"/>
              <a:t> </a:t>
            </a:r>
            <a:r>
              <a:rPr spc="65"/>
              <a:t>manufacturing</a:t>
            </a:r>
            <a:r>
              <a:rPr spc="40"/>
              <a:t> </a:t>
            </a:r>
            <a:r>
              <a:rPr spc="50"/>
              <a:t>data</a:t>
            </a:r>
            <a:r>
              <a:rPr spc="40"/>
              <a:t> </a:t>
            </a:r>
            <a:r>
              <a:rPr spc="85"/>
              <a:t>using</a:t>
            </a:r>
            <a:r>
              <a:rPr spc="45"/>
              <a:t> </a:t>
            </a:r>
            <a:r>
              <a:rPr spc="140"/>
              <a:t>Apache</a:t>
            </a:r>
            <a:r>
              <a:rPr spc="40"/>
              <a:t> </a:t>
            </a:r>
            <a:r>
              <a:rPr spc="90"/>
              <a:t>Spark </a:t>
            </a:r>
            <a:r>
              <a:rPr spc="50"/>
              <a:t>for</a:t>
            </a:r>
            <a:r>
              <a:rPr spc="-104"/>
              <a:t> </a:t>
            </a:r>
            <a:r>
              <a:rPr spc="70"/>
              <a:t>efficient</a:t>
            </a:r>
            <a:r>
              <a:rPr spc="-100"/>
              <a:t> </a:t>
            </a:r>
            <a:r>
              <a:rPr spc="55"/>
              <a:t>analysis.</a:t>
            </a:r>
          </a:p>
          <a:p>
            <a:pPr marL="280734" marR="3032125" indent="-280734" algn="just">
              <a:lnSpc>
                <a:spcPct val="150000"/>
              </a:lnSpc>
              <a:buSzPct val="100000"/>
              <a:buChar char="•"/>
              <a:defRPr spc="94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Performs</a:t>
            </a:r>
            <a:r>
              <a:rPr spc="300"/>
              <a:t> </a:t>
            </a:r>
            <a:r>
              <a:rPr spc="75"/>
              <a:t>production</a:t>
            </a:r>
            <a:r>
              <a:rPr spc="300"/>
              <a:t> </a:t>
            </a:r>
            <a:r>
              <a:rPr spc="0"/>
              <a:t>trend</a:t>
            </a:r>
            <a:r>
              <a:rPr spc="300"/>
              <a:t> </a:t>
            </a:r>
            <a:r>
              <a:rPr spc="85"/>
              <a:t>analysis</a:t>
            </a:r>
            <a:r>
              <a:rPr spc="300"/>
              <a:t> </a:t>
            </a:r>
            <a:r>
              <a:rPr spc="75"/>
              <a:t>and</a:t>
            </a:r>
            <a:r>
              <a:rPr spc="305"/>
              <a:t> </a:t>
            </a:r>
            <a:r>
              <a:rPr spc="90"/>
              <a:t>machine</a:t>
            </a:r>
            <a:r>
              <a:rPr spc="300"/>
              <a:t> </a:t>
            </a:r>
            <a:r>
              <a:rPr spc="80"/>
              <a:t>performance </a:t>
            </a:r>
            <a:r>
              <a:rPr spc="50"/>
              <a:t>evaluation</a:t>
            </a:r>
            <a:r>
              <a:rPr spc="-94"/>
              <a:t> </a:t>
            </a:r>
            <a:r>
              <a:rPr spc="50"/>
              <a:t>continuously.</a:t>
            </a:r>
          </a:p>
          <a:p>
            <a:pPr marL="280734" marR="3032125" indent="-280734" algn="just">
              <a:lnSpc>
                <a:spcPct val="150000"/>
              </a:lnSpc>
              <a:buSzPct val="100000"/>
              <a:buChar char="•"/>
              <a:tabLst>
                <a:tab pos="2108200" algn="l"/>
                <a:tab pos="4279900" algn="l"/>
                <a:tab pos="5410200" algn="l"/>
                <a:tab pos="7467600" algn="l"/>
                <a:tab pos="9385300" algn="l"/>
              </a:tabLst>
              <a:defRPr spc="80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Detects</a:t>
            </a:r>
            <a:r>
              <a:rPr spc="0"/>
              <a:t> </a:t>
            </a:r>
            <a:r>
              <a:rPr spc="60"/>
              <a:t>anomalies</a:t>
            </a:r>
            <a:r>
              <a:rPr spc="0"/>
              <a:t> </a:t>
            </a:r>
            <a:r>
              <a:rPr spc="50"/>
              <a:t>and</a:t>
            </a:r>
            <a:r>
              <a:rPr spc="0"/>
              <a:t> </a:t>
            </a:r>
            <a:r>
              <a:rPr spc="50"/>
              <a:t>abnormal</a:t>
            </a:r>
            <a:r>
              <a:rPr spc="0"/>
              <a:t>	</a:t>
            </a:r>
            <a:r>
              <a:t>machine</a:t>
            </a:r>
            <a:r>
              <a:rPr spc="0"/>
              <a:t> </a:t>
            </a:r>
            <a:r>
              <a:rPr spc="60"/>
              <a:t>behavior </a:t>
            </a:r>
            <a:r>
              <a:rPr spc="55"/>
              <a:t>automatically</a:t>
            </a:r>
            <a:r>
              <a:rPr spc="-80"/>
              <a:t> </a:t>
            </a:r>
            <a:r>
              <a:rPr spc="60"/>
              <a:t>from</a:t>
            </a:r>
            <a:r>
              <a:rPr spc="-80"/>
              <a:t> </a:t>
            </a:r>
            <a:r>
              <a:rPr spc="104"/>
              <a:t>sensor</a:t>
            </a:r>
            <a:r>
              <a:rPr spc="-80"/>
              <a:t> </a:t>
            </a:r>
            <a:r>
              <a:rPr spc="-10"/>
              <a:t>data.</a:t>
            </a:r>
          </a:p>
          <a:p>
            <a:pPr marL="280734" marR="3032125" indent="-280734" algn="just">
              <a:lnSpc>
                <a:spcPct val="150000"/>
              </a:lnSpc>
              <a:buSzPct val="100000"/>
              <a:buChar char="•"/>
              <a:tabLst>
                <a:tab pos="2070100" algn="l"/>
                <a:tab pos="4000500" algn="l"/>
                <a:tab pos="5969000" algn="l"/>
                <a:tab pos="8216900" algn="l"/>
                <a:tab pos="9194800" algn="l"/>
              </a:tabLst>
              <a:defRPr spc="100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Applies</a:t>
            </a:r>
            <a:r>
              <a:rPr spc="0"/>
              <a:t> </a:t>
            </a:r>
            <a:r>
              <a:rPr spc="114"/>
              <a:t>Machine</a:t>
            </a:r>
            <a:r>
              <a:rPr spc="0"/>
              <a:t> </a:t>
            </a:r>
            <a:r>
              <a:rPr spc="65"/>
              <a:t>Learning</a:t>
            </a:r>
            <a:r>
              <a:rPr spc="0"/>
              <a:t> </a:t>
            </a:r>
            <a:r>
              <a:rPr spc="50"/>
              <a:t>algorithms</a:t>
            </a:r>
            <a:r>
              <a:rPr spc="0"/>
              <a:t> </a:t>
            </a:r>
            <a:r>
              <a:rPr spc="25"/>
              <a:t>for</a:t>
            </a:r>
            <a:r>
              <a:rPr spc="0"/>
              <a:t> </a:t>
            </a:r>
            <a:r>
              <a:rPr spc="65"/>
              <a:t>predictive </a:t>
            </a:r>
            <a:r>
              <a:rPr spc="70"/>
              <a:t>maintenance</a:t>
            </a:r>
            <a:r>
              <a:rPr spc="-15"/>
              <a:t> </a:t>
            </a:r>
            <a:r>
              <a:rPr spc="75"/>
              <a:t>and</a:t>
            </a:r>
            <a:r>
              <a:rPr spc="-10"/>
              <a:t> </a:t>
            </a:r>
            <a:r>
              <a:rPr spc="0"/>
              <a:t>failure</a:t>
            </a:r>
            <a:r>
              <a:rPr spc="-10"/>
              <a:t> </a:t>
            </a:r>
            <a:r>
              <a:rPr spc="55"/>
              <a:t>analysis.</a:t>
            </a:r>
          </a:p>
          <a:p>
            <a:pPr marL="280734" marR="3032125" indent="-280734" algn="just">
              <a:lnSpc>
                <a:spcPct val="150000"/>
              </a:lnSpc>
              <a:buSzPct val="100000"/>
              <a:buChar char="•"/>
              <a:defRPr spc="100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Predicts</a:t>
            </a:r>
            <a:r>
              <a:rPr spc="-94"/>
              <a:t> </a:t>
            </a:r>
            <a:r>
              <a:rPr spc="65"/>
              <a:t>equipment</a:t>
            </a:r>
            <a:r>
              <a:rPr spc="-90"/>
              <a:t> </a:t>
            </a:r>
            <a:r>
              <a:rPr spc="55"/>
              <a:t>failures</a:t>
            </a:r>
            <a:r>
              <a:rPr spc="-90"/>
              <a:t> </a:t>
            </a:r>
            <a:r>
              <a:rPr spc="75"/>
              <a:t>and</a:t>
            </a:r>
            <a:r>
              <a:rPr spc="-90"/>
              <a:t> </a:t>
            </a:r>
            <a:r>
              <a:rPr spc="90"/>
              <a:t>supports</a:t>
            </a:r>
            <a:r>
              <a:rPr spc="-90"/>
              <a:t> </a:t>
            </a:r>
            <a:r>
              <a:rPr spc="70"/>
              <a:t>maintenance</a:t>
            </a:r>
            <a:r>
              <a:rPr spc="-90"/>
              <a:t> </a:t>
            </a:r>
            <a:r>
              <a:rPr spc="50"/>
              <a:t>planning </a:t>
            </a:r>
            <a:r>
              <a:rPr spc="0"/>
              <a:t>to</a:t>
            </a:r>
            <a:r>
              <a:rPr spc="-75"/>
              <a:t> </a:t>
            </a:r>
            <a:r>
              <a:t>reduce</a:t>
            </a:r>
            <a:r>
              <a:rPr spc="-70"/>
              <a:t> </a:t>
            </a:r>
            <a:r>
              <a:rPr spc="90"/>
              <a:t>unexpected</a:t>
            </a:r>
            <a:r>
              <a:rPr spc="-70"/>
              <a:t> </a:t>
            </a:r>
            <a:r>
              <a:rPr spc="40"/>
              <a:t>downtime.</a:t>
            </a:r>
          </a:p>
        </p:txBody>
      </p:sp>
      <p:sp>
        <p:nvSpPr>
          <p:cNvPr id="126" name="BIG DATA ANALYTICS AND PREDICTIVE INTELLIGENCE"/>
          <p:cNvSpPr txBox="1"/>
          <p:nvPr/>
        </p:nvSpPr>
        <p:spPr>
          <a:xfrm>
            <a:off x="2176433" y="2041749"/>
            <a:ext cx="11995071" cy="605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indent="12700" defTabSz="457200"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BIG</a:t>
            </a:r>
            <a:r>
              <a:rPr spc="-339"/>
              <a:t> </a:t>
            </a:r>
            <a:r>
              <a:rPr spc="-416"/>
              <a:t>DATA</a:t>
            </a:r>
            <a:r>
              <a:rPr spc="-339"/>
              <a:t> </a:t>
            </a:r>
            <a:r>
              <a:rPr spc="-385"/>
              <a:t>ANALYTICS</a:t>
            </a:r>
            <a:r>
              <a:rPr spc="-339"/>
              <a:t> </a:t>
            </a:r>
            <a:r>
              <a:rPr spc="-190"/>
              <a:t>AND</a:t>
            </a:r>
            <a:r>
              <a:rPr spc="-339"/>
              <a:t> </a:t>
            </a:r>
            <a:r>
              <a:rPr spc="-318"/>
              <a:t>PREDICTIVE</a:t>
            </a:r>
            <a:r>
              <a:rPr spc="-339"/>
              <a:t> </a:t>
            </a:r>
            <a:r>
              <a:rPr spc="-318"/>
              <a:t>INTELLIGENCE</a:t>
            </a:r>
            <a:r>
              <a:rPr spc="-339"/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object 2" descr="object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523291" y="176980"/>
            <a:ext cx="1247777" cy="1266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object 3" descr="object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6012" y="176980"/>
            <a:ext cx="997530" cy="1266826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object 5"/>
          <p:cNvSpPr txBox="1"/>
          <p:nvPr>
            <p:ph type="title"/>
          </p:nvPr>
        </p:nvSpPr>
        <p:spPr>
          <a:xfrm>
            <a:off x="5615180" y="682718"/>
            <a:ext cx="5205111" cy="665484"/>
          </a:xfrm>
          <a:prstGeom prst="rect">
            <a:avLst/>
          </a:prstGeom>
        </p:spPr>
        <p:txBody>
          <a:bodyPr/>
          <a:lstStyle/>
          <a:p>
            <a:pPr indent="11811" defTabSz="425194">
              <a:defRPr b="1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MODULE</a:t>
            </a:r>
            <a:r>
              <a:rPr spc="-500"/>
              <a:t> </a:t>
            </a:r>
            <a:r>
              <a:rPr spc="-200"/>
              <a:t>4</a:t>
            </a:r>
          </a:p>
        </p:txBody>
      </p:sp>
      <p:sp>
        <p:nvSpPr>
          <p:cNvPr id="131" name="object 11"/>
          <p:cNvSpPr txBox="1"/>
          <p:nvPr/>
        </p:nvSpPr>
        <p:spPr>
          <a:xfrm>
            <a:off x="1523511" y="1698136"/>
            <a:ext cx="16503469" cy="416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50920" indent="-350920" algn="just">
              <a:lnSpc>
                <a:spcPct val="150000"/>
              </a:lnSpc>
              <a:spcBef>
                <a:spcPts val="100"/>
              </a:spcBef>
              <a:buSzPct val="100000"/>
              <a:buChar char="•"/>
              <a:defRPr spc="-340" sz="35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80734" marR="1908175" indent="-280734" algn="just">
              <a:lnSpc>
                <a:spcPct val="150000"/>
              </a:lnSpc>
              <a:spcBef>
                <a:spcPts val="4800"/>
              </a:spcBef>
              <a:buSzPct val="100000"/>
              <a:buChar char="•"/>
              <a:tabLst>
                <a:tab pos="2311400" algn="l"/>
                <a:tab pos="4229100" algn="l"/>
                <a:tab pos="6083300" algn="l"/>
                <a:tab pos="7518400" algn="l"/>
                <a:tab pos="8585200" algn="l"/>
              </a:tabLst>
              <a:defRPr spc="80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Displays</a:t>
            </a:r>
            <a:r>
              <a:rPr spc="0"/>
              <a:t> </a:t>
            </a:r>
            <a:r>
              <a:t>real-</a:t>
            </a:r>
            <a:r>
              <a:rPr spc="-20"/>
              <a:t>time</a:t>
            </a:r>
            <a:r>
              <a:rPr spc="0"/>
              <a:t> </a:t>
            </a:r>
            <a:r>
              <a:t>machine</a:t>
            </a:r>
            <a:r>
              <a:rPr spc="0"/>
              <a:t> </a:t>
            </a:r>
            <a:r>
              <a:rPr spc="60"/>
              <a:t>status</a:t>
            </a:r>
            <a:r>
              <a:rPr spc="0"/>
              <a:t> </a:t>
            </a:r>
            <a:r>
              <a:rPr spc="50"/>
              <a:t>and</a:t>
            </a:r>
            <a:r>
              <a:rPr spc="0"/>
              <a:t>	</a:t>
            </a:r>
            <a:r>
              <a:rPr spc="65"/>
              <a:t>production </a:t>
            </a:r>
            <a:r>
              <a:rPr spc="90"/>
              <a:t>performance</a:t>
            </a:r>
            <a:r>
              <a:rPr spc="-94"/>
              <a:t> </a:t>
            </a:r>
            <a:r>
              <a:rPr spc="45"/>
              <a:t>through</a:t>
            </a:r>
            <a:r>
              <a:rPr spc="-94"/>
              <a:t> </a:t>
            </a:r>
            <a:r>
              <a:rPr spc="55"/>
              <a:t>a</a:t>
            </a:r>
            <a:r>
              <a:rPr spc="-94"/>
              <a:t> </a:t>
            </a:r>
            <a:r>
              <a:rPr spc="60"/>
              <a:t>dashboard.</a:t>
            </a:r>
          </a:p>
          <a:p>
            <a:pPr marL="280734" marR="1908175" indent="-280734" algn="just">
              <a:lnSpc>
                <a:spcPct val="150000"/>
              </a:lnSpc>
              <a:buSzPct val="100000"/>
              <a:buChar char="•"/>
              <a:defRPr spc="90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Monitors</a:t>
            </a:r>
            <a:r>
              <a:rPr spc="85"/>
              <a:t> </a:t>
            </a:r>
            <a:r>
              <a:t>machine </a:t>
            </a:r>
            <a:r>
              <a:rPr spc="0"/>
              <a:t>utilization,</a:t>
            </a:r>
            <a:r>
              <a:t> </a:t>
            </a:r>
            <a:r>
              <a:rPr spc="75"/>
              <a:t>production</a:t>
            </a:r>
            <a:r>
              <a:t> </a:t>
            </a:r>
            <a:r>
              <a:rPr spc="0"/>
              <a:t>output,</a:t>
            </a:r>
            <a:r>
              <a:t> </a:t>
            </a:r>
            <a:r>
              <a:rPr spc="75"/>
              <a:t>and</a:t>
            </a:r>
            <a:r>
              <a:t> </a:t>
            </a:r>
            <a:r>
              <a:rPr spc="70"/>
              <a:t>energy </a:t>
            </a:r>
            <a:r>
              <a:t>consumption</a:t>
            </a:r>
            <a:r>
              <a:rPr spc="-85"/>
              <a:t> </a:t>
            </a:r>
            <a:r>
              <a:rPr spc="50"/>
              <a:t>continuously.</a:t>
            </a:r>
          </a:p>
          <a:p>
            <a:pPr marL="280734" marR="1908175" indent="-280734" algn="just">
              <a:lnSpc>
                <a:spcPct val="150000"/>
              </a:lnSpc>
              <a:buSzPct val="100000"/>
              <a:buChar char="•"/>
              <a:tabLst>
                <a:tab pos="2425700" algn="l"/>
                <a:tab pos="4305300" algn="l"/>
                <a:tab pos="5473700" algn="l"/>
                <a:tab pos="6184900" algn="l"/>
                <a:tab pos="7442200" algn="l"/>
                <a:tab pos="9753600" algn="l"/>
              </a:tabLst>
              <a:defRPr spc="70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Generates</a:t>
            </a:r>
            <a:r>
              <a:rPr spc="0"/>
              <a:t> </a:t>
            </a:r>
            <a:r>
              <a:rPr spc="45"/>
              <a:t>automatic</a:t>
            </a:r>
            <a:r>
              <a:rPr spc="0"/>
              <a:t> </a:t>
            </a:r>
            <a:r>
              <a:rPr spc="45"/>
              <a:t>alerts</a:t>
            </a:r>
            <a:r>
              <a:rPr spc="0"/>
              <a:t>	</a:t>
            </a:r>
            <a:r>
              <a:rPr spc="25"/>
              <a:t>for</a:t>
            </a:r>
            <a:r>
              <a:rPr spc="0"/>
              <a:t> </a:t>
            </a:r>
            <a:r>
              <a:rPr spc="-10"/>
              <a:t>faults,</a:t>
            </a:r>
            <a:r>
              <a:rPr spc="0"/>
              <a:t> </a:t>
            </a:r>
            <a:r>
              <a:rPr spc="35"/>
              <a:t>overheating,</a:t>
            </a:r>
            <a:r>
              <a:rPr spc="0"/>
              <a:t> </a:t>
            </a:r>
            <a:r>
              <a:rPr spc="50"/>
              <a:t>and </a:t>
            </a:r>
            <a:r>
              <a:rPr spc="60"/>
              <a:t>abnormal</a:t>
            </a:r>
            <a:r>
              <a:rPr spc="-94"/>
              <a:t> </a:t>
            </a:r>
            <a:r>
              <a:rPr spc="90"/>
              <a:t>machine</a:t>
            </a:r>
            <a:r>
              <a:rPr spc="-94"/>
              <a:t> </a:t>
            </a:r>
            <a:r>
              <a:rPr spc="60"/>
              <a:t>conditions.</a:t>
            </a:r>
          </a:p>
          <a:p>
            <a:pPr marL="280734" marR="1908175" indent="-280734" algn="just">
              <a:lnSpc>
                <a:spcPct val="150000"/>
              </a:lnSpc>
              <a:buSzPct val="100000"/>
              <a:buChar char="•"/>
              <a:tabLst>
                <a:tab pos="2298700" algn="l"/>
                <a:tab pos="4813300" algn="l"/>
                <a:tab pos="7226300" algn="l"/>
                <a:tab pos="8242300" algn="l"/>
              </a:tabLst>
              <a:defRPr spc="90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Provides</a:t>
            </a:r>
            <a:r>
              <a:rPr spc="0"/>
              <a:t> </a:t>
            </a:r>
            <a:r>
              <a:rPr spc="60"/>
              <a:t>maintenance</a:t>
            </a:r>
            <a:r>
              <a:rPr spc="0"/>
              <a:t> </a:t>
            </a:r>
            <a:r>
              <a:rPr spc="60"/>
              <a:t>notifications</a:t>
            </a:r>
            <a:r>
              <a:rPr spc="0"/>
              <a:t> </a:t>
            </a:r>
            <a:r>
              <a:rPr spc="50"/>
              <a:t>and</a:t>
            </a:r>
            <a:r>
              <a:rPr spc="0"/>
              <a:t> </a:t>
            </a:r>
            <a:r>
              <a:rPr spc="80"/>
              <a:t>performance </a:t>
            </a:r>
            <a:r>
              <a:rPr spc="65"/>
              <a:t>reports</a:t>
            </a:r>
            <a:r>
              <a:rPr spc="-94"/>
              <a:t> </a:t>
            </a:r>
            <a:r>
              <a:rPr spc="50"/>
              <a:t>for</a:t>
            </a:r>
            <a:r>
              <a:rPr spc="-94"/>
              <a:t> </a:t>
            </a:r>
            <a:r>
              <a:rPr spc="65"/>
              <a:t>operators</a:t>
            </a:r>
            <a:r>
              <a:rPr spc="-94"/>
              <a:t> </a:t>
            </a:r>
            <a:r>
              <a:rPr spc="75"/>
              <a:t>and</a:t>
            </a:r>
            <a:r>
              <a:rPr spc="-94"/>
              <a:t> </a:t>
            </a:r>
            <a:r>
              <a:rPr spc="50"/>
              <a:t>managers.</a:t>
            </a:r>
          </a:p>
          <a:p>
            <a:pPr marL="280734" marR="1908810" indent="-280734" algn="just">
              <a:lnSpc>
                <a:spcPct val="150000"/>
              </a:lnSpc>
              <a:buSzPct val="100000"/>
              <a:buChar char="•"/>
              <a:tabLst>
                <a:tab pos="2146300" algn="l"/>
                <a:tab pos="3276600" algn="l"/>
                <a:tab pos="4826000" algn="l"/>
                <a:tab pos="6299200" algn="l"/>
                <a:tab pos="8255000" algn="l"/>
              </a:tabLst>
              <a:defRPr spc="85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Supports</a:t>
            </a:r>
            <a:r>
              <a:rPr spc="0"/>
              <a:t> </a:t>
            </a:r>
            <a:r>
              <a:rPr spc="45"/>
              <a:t>faster</a:t>
            </a:r>
            <a:r>
              <a:rPr spc="0"/>
              <a:t> </a:t>
            </a:r>
            <a:r>
              <a:rPr spc="100"/>
              <a:t>decision</a:t>
            </a:r>
            <a:r>
              <a:rPr spc="0"/>
              <a:t> </a:t>
            </a:r>
            <a:r>
              <a:rPr spc="-10"/>
              <a:t>making,</a:t>
            </a:r>
            <a:r>
              <a:rPr spc="0"/>
              <a:t> </a:t>
            </a:r>
            <a:r>
              <a:rPr spc="65"/>
              <a:t>production</a:t>
            </a:r>
            <a:r>
              <a:rPr spc="0"/>
              <a:t> </a:t>
            </a:r>
            <a:r>
              <a:rPr spc="35"/>
              <a:t>optimization, </a:t>
            </a:r>
            <a:r>
              <a:rPr spc="75"/>
              <a:t>and</a:t>
            </a:r>
            <a:r>
              <a:rPr spc="-35"/>
              <a:t> </a:t>
            </a:r>
            <a:r>
              <a:rPr spc="0"/>
              <a:t>better</a:t>
            </a:r>
            <a:r>
              <a:rPr spc="-35"/>
              <a:t> </a:t>
            </a:r>
            <a:r>
              <a:rPr spc="94"/>
              <a:t>resource</a:t>
            </a:r>
            <a:r>
              <a:rPr spc="-35"/>
              <a:t> </a:t>
            </a:r>
            <a:r>
              <a:rPr spc="-10"/>
              <a:t>utilization.</a:t>
            </a:r>
          </a:p>
        </p:txBody>
      </p:sp>
      <p:sp>
        <p:nvSpPr>
          <p:cNvPr id="132" name="SMART MONITORING AND DECISION SUPPORT"/>
          <p:cNvSpPr txBox="1"/>
          <p:nvPr/>
        </p:nvSpPr>
        <p:spPr>
          <a:xfrm>
            <a:off x="3883319" y="1675210"/>
            <a:ext cx="9802518" cy="617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indent="12700" defTabSz="457200">
              <a:defRPr b="1" sz="3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SMART</a:t>
            </a:r>
            <a:r>
              <a:rPr spc="-343"/>
              <a:t> </a:t>
            </a:r>
            <a:r>
              <a:rPr spc="-274"/>
              <a:t>MONITORING</a:t>
            </a:r>
            <a:r>
              <a:rPr spc="-343"/>
              <a:t> </a:t>
            </a:r>
            <a:r>
              <a:rPr spc="-195"/>
              <a:t>AND</a:t>
            </a:r>
            <a:r>
              <a:rPr spc="-338"/>
              <a:t> </a:t>
            </a:r>
            <a:r>
              <a:rPr spc="-268"/>
              <a:t>DECISION</a:t>
            </a:r>
            <a:r>
              <a:rPr spc="-343"/>
              <a:t> </a:t>
            </a:r>
            <a:r>
              <a:rPr spc="-348"/>
              <a:t>SUPPORT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PLEMENTATION"/>
          <p:cNvSpPr txBox="1"/>
          <p:nvPr/>
        </p:nvSpPr>
        <p:spPr>
          <a:xfrm>
            <a:off x="6284199" y="749075"/>
            <a:ext cx="5719602" cy="751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b="1" sz="4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</a:t>
            </a:r>
          </a:p>
        </p:txBody>
      </p:sp>
      <p:pic>
        <p:nvPicPr>
          <p:cNvPr id="13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6012" y="176980"/>
            <a:ext cx="997530" cy="1266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object 2" descr="object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23291" y="176980"/>
            <a:ext cx="1247777" cy="1266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pasted-movie.heic" descr="pasted-movie.heic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86797" y="1923099"/>
            <a:ext cx="6133325" cy="32086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asted-movie.heic" descr="pasted-movie.heic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1234301" y="1939447"/>
            <a:ext cx="6319114" cy="3548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asted-movie.heic" descr="pasted-movie.heic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832916" y="6030854"/>
            <a:ext cx="6622168" cy="36847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object 2"/>
          <p:cNvSpPr txBox="1"/>
          <p:nvPr>
            <p:ph type="title"/>
          </p:nvPr>
        </p:nvSpPr>
        <p:spPr>
          <a:xfrm>
            <a:off x="5802691" y="529487"/>
            <a:ext cx="15772417" cy="1554686"/>
          </a:xfrm>
          <a:prstGeom prst="rect">
            <a:avLst/>
          </a:prstGeom>
        </p:spPr>
        <p:txBody>
          <a:bodyPr/>
          <a:lstStyle>
            <a:lvl1pPr indent="771525">
              <a:spcBef>
                <a:spcPts val="100"/>
              </a:spcBef>
              <a:defRPr b="1" spc="-500" sz="4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42" name="object 4"/>
          <p:cNvSpPr txBox="1"/>
          <p:nvPr/>
        </p:nvSpPr>
        <p:spPr>
          <a:xfrm>
            <a:off x="1323340" y="2657693"/>
            <a:ext cx="15641320" cy="4253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00789" marR="974088" indent="-300789" algn="just">
              <a:lnSpc>
                <a:spcPct val="150000"/>
              </a:lnSpc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Integrates</a:t>
            </a:r>
            <a:r>
              <a:rPr spc="-80"/>
              <a:t> </a:t>
            </a:r>
            <a:r>
              <a:rPr spc="-130"/>
              <a:t>IoT,</a:t>
            </a:r>
            <a:r>
              <a:rPr spc="-75"/>
              <a:t> </a:t>
            </a:r>
            <a:r>
              <a:rPr spc="125"/>
              <a:t>cloud</a:t>
            </a:r>
            <a:r>
              <a:rPr spc="-75"/>
              <a:t> </a:t>
            </a:r>
            <a:r>
              <a:rPr spc="75"/>
              <a:t>computing,</a:t>
            </a:r>
            <a:r>
              <a:rPr spc="-80"/>
              <a:t> </a:t>
            </a:r>
            <a:r>
              <a:rPr spc="100"/>
              <a:t>big</a:t>
            </a:r>
            <a:r>
              <a:rPr spc="-75"/>
              <a:t> </a:t>
            </a:r>
            <a:r>
              <a:rPr spc="70"/>
              <a:t>data</a:t>
            </a:r>
            <a:r>
              <a:rPr spc="-75"/>
              <a:t> </a:t>
            </a:r>
            <a:r>
              <a:rPr spc="80"/>
              <a:t>analytics,</a:t>
            </a:r>
            <a:r>
              <a:rPr spc="-80"/>
              <a:t> </a:t>
            </a:r>
            <a:r>
              <a:rPr spc="95"/>
              <a:t>and</a:t>
            </a:r>
            <a:r>
              <a:rPr spc="-75"/>
              <a:t> </a:t>
            </a:r>
            <a:r>
              <a:rPr spc="100"/>
              <a:t>machine</a:t>
            </a:r>
            <a:r>
              <a:rPr spc="-75"/>
              <a:t> </a:t>
            </a:r>
            <a:r>
              <a:rPr spc="70"/>
              <a:t>learning</a:t>
            </a:r>
            <a:r>
              <a:rPr spc="-80"/>
              <a:t> </a:t>
            </a:r>
            <a:r>
              <a:rPr spc="65"/>
              <a:t>for</a:t>
            </a:r>
            <a:r>
              <a:rPr spc="-75"/>
              <a:t> </a:t>
            </a:r>
            <a:r>
              <a:rPr spc="55"/>
              <a:t>smart </a:t>
            </a:r>
            <a:r>
              <a:rPr spc="50"/>
              <a:t>manufacturing.</a:t>
            </a:r>
          </a:p>
          <a:p>
            <a:pPr marL="300789" marR="5080" indent="-300789" algn="just">
              <a:lnSpc>
                <a:spcPct val="150000"/>
              </a:lnSpc>
              <a:buSzPct val="100000"/>
              <a:buChar char="•"/>
              <a:defRPr spc="104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Enables</a:t>
            </a:r>
            <a:r>
              <a:rPr spc="-80"/>
              <a:t> </a:t>
            </a:r>
            <a:r>
              <a:rPr spc="95"/>
              <a:t>real-</a:t>
            </a:r>
            <a:r>
              <a:rPr spc="0"/>
              <a:t>time</a:t>
            </a:r>
            <a:r>
              <a:rPr spc="-80"/>
              <a:t> </a:t>
            </a:r>
            <a:r>
              <a:rPr spc="60"/>
              <a:t>monitoring</a:t>
            </a:r>
            <a:r>
              <a:rPr spc="-80"/>
              <a:t> </a:t>
            </a:r>
            <a:r>
              <a:rPr spc="125"/>
              <a:t>of</a:t>
            </a:r>
            <a:r>
              <a:rPr spc="-80"/>
              <a:t> </a:t>
            </a:r>
            <a:r>
              <a:rPr spc="110"/>
              <a:t>machines</a:t>
            </a:r>
            <a:r>
              <a:rPr spc="-80"/>
              <a:t> </a:t>
            </a:r>
            <a:r>
              <a:rPr spc="95"/>
              <a:t>and</a:t>
            </a:r>
            <a:r>
              <a:rPr spc="-80"/>
              <a:t> </a:t>
            </a:r>
            <a:r>
              <a:rPr spc="90"/>
              <a:t>production</a:t>
            </a:r>
            <a:r>
              <a:rPr spc="-80"/>
              <a:t> </a:t>
            </a:r>
            <a:r>
              <a:rPr spc="160"/>
              <a:t>processes</a:t>
            </a:r>
            <a:r>
              <a:rPr spc="-80"/>
              <a:t> </a:t>
            </a:r>
            <a:r>
              <a:rPr spc="55"/>
              <a:t>through</a:t>
            </a:r>
            <a:r>
              <a:rPr spc="-80"/>
              <a:t> </a:t>
            </a:r>
            <a:r>
              <a:rPr spc="55"/>
              <a:t>digital</a:t>
            </a:r>
            <a:r>
              <a:rPr spc="-75"/>
              <a:t> </a:t>
            </a:r>
            <a:r>
              <a:rPr spc="45"/>
              <a:t>twin </a:t>
            </a:r>
            <a:r>
              <a:rPr spc="75"/>
              <a:t>synchronization.</a:t>
            </a:r>
          </a:p>
          <a:p>
            <a:pPr marL="300789" marR="271145" indent="-300789" algn="just">
              <a:lnSpc>
                <a:spcPct val="150000"/>
              </a:lnSpc>
              <a:buSzPct val="100000"/>
              <a:buChar char="•"/>
              <a:defRPr spc="45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Improves</a:t>
            </a:r>
            <a:r>
              <a:rPr spc="-35"/>
              <a:t> </a:t>
            </a:r>
            <a:r>
              <a:rPr spc="90"/>
              <a:t>production</a:t>
            </a:r>
            <a:r>
              <a:rPr spc="-35"/>
              <a:t> </a:t>
            </a:r>
            <a:r>
              <a:rPr spc="80"/>
              <a:t>efficiency,</a:t>
            </a:r>
            <a:r>
              <a:rPr spc="-30"/>
              <a:t> </a:t>
            </a:r>
            <a:r>
              <a:rPr spc="100"/>
              <a:t>machine</a:t>
            </a:r>
            <a:r>
              <a:rPr spc="-35"/>
              <a:t> </a:t>
            </a:r>
            <a:r>
              <a:rPr spc="0"/>
              <a:t>utilization,</a:t>
            </a:r>
            <a:r>
              <a:rPr spc="-35"/>
              <a:t> </a:t>
            </a:r>
            <a:r>
              <a:rPr spc="95"/>
              <a:t>and</a:t>
            </a:r>
            <a:r>
              <a:rPr spc="-30"/>
              <a:t> </a:t>
            </a:r>
            <a:r>
              <a:rPr spc="65"/>
              <a:t>operational</a:t>
            </a:r>
            <a:r>
              <a:rPr spc="-35"/>
              <a:t> </a:t>
            </a:r>
            <a:r>
              <a:rPr spc="-10"/>
              <a:t>visibility.  </a:t>
            </a:r>
            <a:r>
              <a:rPr spc="95"/>
              <a:t>Predictive</a:t>
            </a:r>
            <a:r>
              <a:rPr spc="-95"/>
              <a:t> </a:t>
            </a:r>
            <a:r>
              <a:rPr spc="100"/>
              <a:t>analytics</a:t>
            </a:r>
            <a:r>
              <a:rPr spc="-95"/>
              <a:t> </a:t>
            </a:r>
            <a:r>
              <a:rPr spc="110"/>
              <a:t>helps</a:t>
            </a:r>
            <a:r>
              <a:rPr spc="-95"/>
              <a:t> </a:t>
            </a:r>
            <a:r>
              <a:rPr spc="120"/>
              <a:t>reduce</a:t>
            </a:r>
            <a:r>
              <a:rPr spc="-95"/>
              <a:t> </a:t>
            </a:r>
            <a:r>
              <a:rPr spc="100"/>
              <a:t>machine</a:t>
            </a:r>
            <a:r>
              <a:rPr spc="-95"/>
              <a:t> </a:t>
            </a:r>
            <a:r>
              <a:t>failures,</a:t>
            </a:r>
            <a:r>
              <a:rPr spc="-95"/>
              <a:t> </a:t>
            </a:r>
            <a:r>
              <a:rPr spc="60"/>
              <a:t>downtime,</a:t>
            </a:r>
            <a:r>
              <a:rPr spc="-95"/>
              <a:t> </a:t>
            </a:r>
            <a:r>
              <a:rPr spc="95"/>
              <a:t>and</a:t>
            </a:r>
            <a:r>
              <a:rPr spc="-95"/>
              <a:t> </a:t>
            </a:r>
            <a:r>
              <a:rPr spc="80"/>
              <a:t>maintenance</a:t>
            </a:r>
            <a:r>
              <a:rPr spc="-90"/>
              <a:t> </a:t>
            </a:r>
            <a:r>
              <a:rPr spc="104"/>
              <a:t>costs. </a:t>
            </a:r>
            <a:r>
              <a:rPr spc="114"/>
              <a:t>Provides</a:t>
            </a:r>
            <a:r>
              <a:rPr spc="-75"/>
              <a:t> </a:t>
            </a:r>
            <a:r>
              <a:rPr spc="75"/>
              <a:t>a</a:t>
            </a:r>
            <a:r>
              <a:rPr spc="-75"/>
              <a:t> </a:t>
            </a:r>
            <a:r>
              <a:rPr spc="120"/>
              <a:t>scalable</a:t>
            </a:r>
            <a:r>
              <a:rPr spc="-70"/>
              <a:t> </a:t>
            </a:r>
            <a:r>
              <a:rPr spc="95"/>
              <a:t>and</a:t>
            </a:r>
            <a:r>
              <a:rPr spc="-75"/>
              <a:t> </a:t>
            </a:r>
            <a:r>
              <a:rPr spc="75"/>
              <a:t>efficient</a:t>
            </a:r>
            <a:r>
              <a:rPr spc="-75"/>
              <a:t> </a:t>
            </a:r>
            <a:r>
              <a:rPr spc="75"/>
              <a:t>solution</a:t>
            </a:r>
            <a:r>
              <a:rPr spc="-70"/>
              <a:t> </a:t>
            </a:r>
            <a:r>
              <a:rPr spc="65"/>
              <a:t>for</a:t>
            </a:r>
            <a:r>
              <a:rPr spc="-75"/>
              <a:t> </a:t>
            </a:r>
            <a:r>
              <a:rPr spc="0"/>
              <a:t>Industry</a:t>
            </a:r>
            <a:r>
              <a:rPr spc="-75"/>
              <a:t> </a:t>
            </a:r>
            <a:r>
              <a:rPr spc="80"/>
              <a:t>4.0</a:t>
            </a:r>
            <a:r>
              <a:rPr spc="-70"/>
              <a:t> </a:t>
            </a:r>
            <a:r>
              <a:rPr spc="75"/>
              <a:t>manufacturing</a:t>
            </a:r>
            <a:r>
              <a:rPr spc="-75"/>
              <a:t> </a:t>
            </a:r>
            <a:r>
              <a:rPr spc="50"/>
              <a:t>environments.</a:t>
            </a:r>
          </a:p>
        </p:txBody>
      </p:sp>
      <p:pic>
        <p:nvPicPr>
          <p:cNvPr id="143" name="object 9" descr="object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6012" y="176980"/>
            <a:ext cx="1505530" cy="1924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object 10" descr="object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23291" y="189680"/>
            <a:ext cx="1733552" cy="17716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FUTURE SCOPE"/>
          <p:cNvSpPr txBox="1"/>
          <p:nvPr/>
        </p:nvSpPr>
        <p:spPr>
          <a:xfrm>
            <a:off x="6974632" y="763065"/>
            <a:ext cx="4697469" cy="751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4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FUTURE SCOPE</a:t>
            </a:r>
          </a:p>
        </p:txBody>
      </p:sp>
      <p:pic>
        <p:nvPicPr>
          <p:cNvPr id="147" name="object 9" descr="object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6012" y="176980"/>
            <a:ext cx="1505530" cy="1924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object 10" descr="object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23291" y="176980"/>
            <a:ext cx="1733552" cy="1771651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Real-Time Monitoring: Improve real-time monitoring using IoT sensors and cloud technology.…"/>
          <p:cNvSpPr txBox="1"/>
          <p:nvPr/>
        </p:nvSpPr>
        <p:spPr>
          <a:xfrm>
            <a:off x="1464314" y="2934667"/>
            <a:ext cx="14564919" cy="3599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Real-Time Monitoring:</a:t>
            </a:r>
            <a:r>
              <a:t> Improve real-time monitoring using IoT sensors and cloud technology.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Predictive Maintenance:</a:t>
            </a:r>
            <a:r>
              <a:t> Use advanced AI/ML models to predict machine failures accurately.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Process Optimization:</a:t>
            </a:r>
            <a:r>
              <a:t> Optimize production processes using digital twin simulations.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Energy Efficiency:</a:t>
            </a:r>
            <a:r>
              <a:t> Monitor and reduce energy consumption in manufacturing.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Cloud Scalability:</a:t>
            </a:r>
            <a:r>
              <a:t> Extend the system to support multiple machines and production units.</a:t>
            </a:r>
          </a:p>
          <a:p>
            <a:pPr marL="290763" indent="-290763" algn="just" defTabSz="457200">
              <a:lnSpc>
                <a:spcPct val="150000"/>
              </a:lnSpc>
              <a:buSzPct val="100000"/>
              <a:buChar char="•"/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AI-Based Decisions:</a:t>
            </a:r>
            <a:r>
              <a:t> Enable automated fault detection and intelligent decision-making.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object 2"/>
          <p:cNvSpPr txBox="1"/>
          <p:nvPr>
            <p:ph type="title"/>
          </p:nvPr>
        </p:nvSpPr>
        <p:spPr>
          <a:xfrm>
            <a:off x="4918983" y="623815"/>
            <a:ext cx="6942743" cy="665483"/>
          </a:xfrm>
          <a:prstGeom prst="rect">
            <a:avLst/>
          </a:prstGeom>
        </p:spPr>
        <p:txBody>
          <a:bodyPr/>
          <a:lstStyle>
            <a:lvl1pPr indent="10922" defTabSz="393190">
              <a:defRPr b="1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               REFERENCES</a:t>
            </a:r>
          </a:p>
        </p:txBody>
      </p:sp>
      <p:sp>
        <p:nvSpPr>
          <p:cNvPr id="152" name="object 4"/>
          <p:cNvSpPr txBox="1"/>
          <p:nvPr/>
        </p:nvSpPr>
        <p:spPr>
          <a:xfrm>
            <a:off x="1571983" y="2230837"/>
            <a:ext cx="15820392" cy="6370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lnSpc>
                <a:spcPct val="150000"/>
              </a:lnSpc>
              <a:spcBef>
                <a:spcPts val="1400"/>
              </a:spcBef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457200" indent="-317500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Lee et al. (2024)</a:t>
            </a:r>
            <a:r>
              <a:rPr b="0"/>
              <a:t> – Focused on </a:t>
            </a:r>
            <a:r>
              <a:t>Cyber-Physical Systems (CPS) and Industry 4.0</a:t>
            </a:r>
            <a:r>
              <a:rPr b="0"/>
              <a:t>, highlighting the importance of connected and intelligent manufacturing systems.</a:t>
            </a:r>
          </a:p>
          <a:p>
            <a:pPr marL="457200" indent="-317500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Kritzinger et al. (2024)</a:t>
            </a:r>
            <a:r>
              <a:rPr b="0"/>
              <a:t> – Studied </a:t>
            </a:r>
            <a:r>
              <a:t>Digital Twin technology</a:t>
            </a:r>
            <a:r>
              <a:rPr b="0"/>
              <a:t> and showed its potential for improving real-time machine monitoring and overall manufacturing efficiency.</a:t>
            </a:r>
          </a:p>
          <a:p>
            <a:pPr marL="457200" indent="-317500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Qi &amp; Tao (2025)</a:t>
            </a:r>
            <a:r>
              <a:rPr b="0"/>
              <a:t> – Explored the combination of </a:t>
            </a:r>
            <a:r>
              <a:t>Digital Twins and Big Data</a:t>
            </a:r>
            <a:r>
              <a:rPr b="0"/>
              <a:t>, supporting data-driven manufacturing and improved analysis of industrial processes.</a:t>
            </a:r>
          </a:p>
          <a:p>
            <a:pPr marL="457200" indent="-317500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Tao et al. (2025)</a:t>
            </a:r>
            <a:r>
              <a:rPr b="0"/>
              <a:t> – Investigated </a:t>
            </a:r>
            <a:r>
              <a:t>Digital Twin applications</a:t>
            </a:r>
            <a:r>
              <a:rPr b="0"/>
              <a:t> for manufacturing monitoring and optimization, helping improve operational performance.</a:t>
            </a:r>
          </a:p>
          <a:p>
            <a:pPr marL="457200" indent="-317500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Fuller et al. (2026)</a:t>
            </a:r>
            <a:r>
              <a:rPr b="0"/>
              <a:t> – Reviewed </a:t>
            </a:r>
            <a:r>
              <a:t>Digital Twin applications and challenges</a:t>
            </a:r>
            <a:r>
              <a:rPr b="0"/>
              <a:t>, highlighting issues such as scalability and the need for effective implementation in smart manufacturing.</a:t>
            </a:r>
          </a:p>
        </p:txBody>
      </p:sp>
      <p:pic>
        <p:nvPicPr>
          <p:cNvPr id="153" name="object 9" descr="object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2284" y="221241"/>
            <a:ext cx="1487057" cy="18954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object 10" descr="object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23291" y="342323"/>
            <a:ext cx="1733552" cy="17716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asted-movie.heic" descr="pasted-movie.hei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64000" y="1651000"/>
            <a:ext cx="10160000" cy="698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